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348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Welcome the group and introduce today's topic, Zero Trust Management. Explain that Zero Trust is one of the most important shifts in modern cybersecurity strategy, moving away from the old idea that anything inside the network is automatically safe. Tell learners that by the end of this 30 minute session they will understand what Zero Trust is, why it matters, its core principles, its architecture, and how it is implemented and managed in a real organization. Trainer tip: Keep this introduction to 30-45 seconds and set an energetic, practical tone -- this is a hands-on operational topic, not just theory.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that Zero Trust is a security model, not a single product. Its core idea is simple: don't automatically trust anyone or anything, inside or outside the network -- verify every access request using identity, device health, and context, continuously, and only give the minimum access needed. Example: Even if an employee is already inside the company network, we don't automatically trust the user or the device -- their laptop and identity still get checked before they can open the HR system. Trainer tip: Emphasize the word 'continuous' -- Zero Trust is not a one-time login check, it is ongoing verification throughout the session.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old perimeter approach assumed a clear inside and outside, but that boundary has dissolved. Data now lives in cloud apps, employees work remotely, personal devices connect to company resources, and attackers routinely steal valid credentials. These six trends together mean a strong network perimeter alone can no longer protect the organization. Example: A sales rep checks the company CRM from their personal phone at an airport -- that single action touches cloud, mobile, BYOD, and remote access risk all at once. Trainer tip: Ask the group which of these six trends applies most to their own organization -- it usually sparks quick relatable discussion.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table contrasts the two models directly. Traditional security trusted anything already inside the network and relied heavily on VPNs and static firewall rules. Once a user authenticated, they typically had broad access. Zero Trust flips this: identity, not location, decides access, and every request is checked against current context, not just checked once at login. Example: In a traditional model, connecting through VPN often unlocked the whole internal network. In Zero Trust, the same user only reaches the specific application they are authorized for, and it is re-checked continuously. Trainer tip: Point out that Zero Trust does not eliminate networks -- it changes what the network is allowed to assume about anyone on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phrase, 'Never trust, always verify', is the single sentence that captures all of Zero Trust. Every access request -- from any user, device, or application -- is treated as potentially risky until it is authenticated, authorized, and validated against current context like device health and location. Example: A finance manager opening the payroll system goes through the same verify-then-access flow every single time, even if they did it an hour ago. Trainer tip: Tell learners to remember this slide's diagram -- request, verify, access -- it is the mental model we will keep building on for the rest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These three principles are the operational backbone of Zero Trust. Verify explicitly means we use every signal available, not just a password. Least privilege means access is scoped as narrowly as possible. Assume breach means we design our systems expecting that an attacker may already be inside, so we limit how far they could move. Example: Walk through the contractor example on this slide -- limited scope, limited time, and no ability to reach unrelated systems even if their account were compromised. Trainer tip: Ask learners to name one system at their own workplace where least privilege is NOT currently enforced -- it makes the concept concrete.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diagram shows the flow of a real access request. The user goes through the Identity Provider to prove who they are, the Policy Engine decides whether to allow access based on identity, device, network, and data signals, and the Policy Enforcement Point actually carries out that decision before the user reaches the application. Device, network, data, and monitoring feed information into this decision continuously. Example: When an employee tries to open a finance dashboard, the Policy Engine checks their identity, their laptop's compliance status, and current threat intelligence before the Enforcement Point lets the connection through. Trainer tip: Stress that the Policy Engine is the 'brain' and the Enforcement Point is the 'gate' -- decision and enforcement are separate components.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slide breaks the architecture into its eight functional building blocks, based on the NIST SP 800-207 Zero Trust reference model. Each has a distinct role: some decide, some enforce, some supply identity or device signals, and some are the protected resources themselves. Understanding these roles helps you map real products to real functions instead of treating Zero Trust as one single tool. Example: In many organizations, an IAM platform serves as the Identity Provider, an EDR platform feeds Device Management signals, and a SIEM powers Security Analytics. Trainer tip: Reassure learners they don't need to memorize every term today -- we'll revisit several of these components in more depth in upcoming slides.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Because users now connect from anywhere and on any device, identity has become the main control point, replacing the network boundary as the primary line of defense. Strong authentication -- including MFA, SSO, and centralized IAM -- confirms who is really making a request, and risk-based authentication adjusts requirements dynamically based on signals like device and location. Example: When an employee logs in from a brand-new device and an unfamiliar country, Zero Trust raises the risk score and automatically requires step-up MFA before granting access. Trainer tip: Point out that privileged identities -- admins, finance approvers -- deserve even tighter scrutiny since they carry more damage potential if compromised.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These two terms get confused constantly, so it's worth separating them clearly. Authentication proves who you are, typically through a password combined with MFA. Authorization happens after that, deciding exactly what that verified identity is allowed to do, usually through role-based access control. Zero Trust requires both to succeed before access is granted, and both are re-checked as context changes. Example: An employee authenticates successfully with MFA, but authorization still blocks them from opening the finance application because their role is Marketing, not Finance. Trainer tip: Use the phrase 'getting in the building versus which doors you can open' -- it helps non-technical learners retain the distinction.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778240" y="457200"/>
            <a:ext cx="32004" cy="32004"/>
          </a:xfrm>
          <a:prstGeom prst="ellipse">
            <a:avLst/>
          </a:prstGeom>
          <a:solidFill>
            <a:srgbClr val="26314F"/>
          </a:solidFill>
          <a:ln/>
        </p:spPr>
        <p:txBody>
          <a:bodyPr/>
          <a:lstStyle/>
          <a:p>
            <a:endParaRPr lang="en-IN"/>
          </a:p>
        </p:txBody>
      </p:sp>
      <p:sp>
        <p:nvSpPr>
          <p:cNvPr id="3" name="Shape 1"/>
          <p:cNvSpPr/>
          <p:nvPr/>
        </p:nvSpPr>
        <p:spPr>
          <a:xfrm>
            <a:off x="8778240" y="713232"/>
            <a:ext cx="32004" cy="32004"/>
          </a:xfrm>
          <a:prstGeom prst="ellipse">
            <a:avLst/>
          </a:prstGeom>
          <a:solidFill>
            <a:srgbClr val="26314F"/>
          </a:solidFill>
          <a:ln/>
        </p:spPr>
        <p:txBody>
          <a:bodyPr/>
          <a:lstStyle/>
          <a:p>
            <a:endParaRPr lang="en-IN"/>
          </a:p>
        </p:txBody>
      </p:sp>
      <p:sp>
        <p:nvSpPr>
          <p:cNvPr id="4" name="Shape 2"/>
          <p:cNvSpPr/>
          <p:nvPr/>
        </p:nvSpPr>
        <p:spPr>
          <a:xfrm>
            <a:off x="8778240" y="969264"/>
            <a:ext cx="32004" cy="32004"/>
          </a:xfrm>
          <a:prstGeom prst="ellipse">
            <a:avLst/>
          </a:prstGeom>
          <a:solidFill>
            <a:srgbClr val="26314F"/>
          </a:solidFill>
          <a:ln/>
        </p:spPr>
        <p:txBody>
          <a:bodyPr/>
          <a:lstStyle/>
          <a:p>
            <a:endParaRPr lang="en-IN"/>
          </a:p>
        </p:txBody>
      </p:sp>
      <p:sp>
        <p:nvSpPr>
          <p:cNvPr id="5" name="Shape 3"/>
          <p:cNvSpPr/>
          <p:nvPr/>
        </p:nvSpPr>
        <p:spPr>
          <a:xfrm>
            <a:off x="8778240" y="1225296"/>
            <a:ext cx="32004" cy="32004"/>
          </a:xfrm>
          <a:prstGeom prst="ellipse">
            <a:avLst/>
          </a:prstGeom>
          <a:solidFill>
            <a:srgbClr val="26314F"/>
          </a:solidFill>
          <a:ln/>
        </p:spPr>
        <p:txBody>
          <a:bodyPr/>
          <a:lstStyle/>
          <a:p>
            <a:endParaRPr lang="en-IN"/>
          </a:p>
        </p:txBody>
      </p:sp>
      <p:sp>
        <p:nvSpPr>
          <p:cNvPr id="6" name="Shape 4"/>
          <p:cNvSpPr/>
          <p:nvPr/>
        </p:nvSpPr>
        <p:spPr>
          <a:xfrm>
            <a:off x="8778240" y="1481328"/>
            <a:ext cx="32004" cy="32004"/>
          </a:xfrm>
          <a:prstGeom prst="ellipse">
            <a:avLst/>
          </a:prstGeom>
          <a:solidFill>
            <a:srgbClr val="26314F"/>
          </a:solidFill>
          <a:ln/>
        </p:spPr>
        <p:txBody>
          <a:bodyPr/>
          <a:lstStyle/>
          <a:p>
            <a:endParaRPr lang="en-IN"/>
          </a:p>
        </p:txBody>
      </p:sp>
      <p:sp>
        <p:nvSpPr>
          <p:cNvPr id="7" name="Shape 5"/>
          <p:cNvSpPr/>
          <p:nvPr/>
        </p:nvSpPr>
        <p:spPr>
          <a:xfrm>
            <a:off x="8778240" y="1737360"/>
            <a:ext cx="32004" cy="32004"/>
          </a:xfrm>
          <a:prstGeom prst="ellipse">
            <a:avLst/>
          </a:prstGeom>
          <a:solidFill>
            <a:srgbClr val="26314F"/>
          </a:solidFill>
          <a:ln/>
        </p:spPr>
        <p:txBody>
          <a:bodyPr/>
          <a:lstStyle/>
          <a:p>
            <a:endParaRPr lang="en-IN"/>
          </a:p>
        </p:txBody>
      </p:sp>
      <p:sp>
        <p:nvSpPr>
          <p:cNvPr id="8" name="Shape 6"/>
          <p:cNvSpPr/>
          <p:nvPr/>
        </p:nvSpPr>
        <p:spPr>
          <a:xfrm>
            <a:off x="9034272" y="457200"/>
            <a:ext cx="32004" cy="32004"/>
          </a:xfrm>
          <a:prstGeom prst="ellipse">
            <a:avLst/>
          </a:prstGeom>
          <a:solidFill>
            <a:srgbClr val="26314F"/>
          </a:solidFill>
          <a:ln/>
        </p:spPr>
        <p:txBody>
          <a:bodyPr/>
          <a:lstStyle/>
          <a:p>
            <a:endParaRPr lang="en-IN"/>
          </a:p>
        </p:txBody>
      </p:sp>
      <p:sp>
        <p:nvSpPr>
          <p:cNvPr id="9" name="Shape 7"/>
          <p:cNvSpPr/>
          <p:nvPr/>
        </p:nvSpPr>
        <p:spPr>
          <a:xfrm>
            <a:off x="9034272" y="713232"/>
            <a:ext cx="32004" cy="32004"/>
          </a:xfrm>
          <a:prstGeom prst="ellipse">
            <a:avLst/>
          </a:prstGeom>
          <a:solidFill>
            <a:srgbClr val="26314F"/>
          </a:solidFill>
          <a:ln/>
        </p:spPr>
        <p:txBody>
          <a:bodyPr/>
          <a:lstStyle/>
          <a:p>
            <a:endParaRPr lang="en-IN"/>
          </a:p>
        </p:txBody>
      </p:sp>
      <p:sp>
        <p:nvSpPr>
          <p:cNvPr id="10" name="Shape 8"/>
          <p:cNvSpPr/>
          <p:nvPr/>
        </p:nvSpPr>
        <p:spPr>
          <a:xfrm>
            <a:off x="9034272" y="969264"/>
            <a:ext cx="32004" cy="32004"/>
          </a:xfrm>
          <a:prstGeom prst="ellipse">
            <a:avLst/>
          </a:prstGeom>
          <a:solidFill>
            <a:srgbClr val="26314F"/>
          </a:solidFill>
          <a:ln/>
        </p:spPr>
        <p:txBody>
          <a:bodyPr/>
          <a:lstStyle/>
          <a:p>
            <a:endParaRPr lang="en-IN"/>
          </a:p>
        </p:txBody>
      </p:sp>
      <p:sp>
        <p:nvSpPr>
          <p:cNvPr id="11" name="Shape 9"/>
          <p:cNvSpPr/>
          <p:nvPr/>
        </p:nvSpPr>
        <p:spPr>
          <a:xfrm>
            <a:off x="9034272" y="1225296"/>
            <a:ext cx="32004" cy="32004"/>
          </a:xfrm>
          <a:prstGeom prst="ellipse">
            <a:avLst/>
          </a:prstGeom>
          <a:solidFill>
            <a:srgbClr val="26314F"/>
          </a:solidFill>
          <a:ln/>
        </p:spPr>
        <p:txBody>
          <a:bodyPr/>
          <a:lstStyle/>
          <a:p>
            <a:endParaRPr lang="en-IN"/>
          </a:p>
        </p:txBody>
      </p:sp>
      <p:sp>
        <p:nvSpPr>
          <p:cNvPr id="12" name="Shape 10"/>
          <p:cNvSpPr/>
          <p:nvPr/>
        </p:nvSpPr>
        <p:spPr>
          <a:xfrm>
            <a:off x="9034272" y="1481328"/>
            <a:ext cx="32004" cy="32004"/>
          </a:xfrm>
          <a:prstGeom prst="ellipse">
            <a:avLst/>
          </a:prstGeom>
          <a:solidFill>
            <a:srgbClr val="26314F"/>
          </a:solidFill>
          <a:ln/>
        </p:spPr>
        <p:txBody>
          <a:bodyPr/>
          <a:lstStyle/>
          <a:p>
            <a:endParaRPr lang="en-IN"/>
          </a:p>
        </p:txBody>
      </p:sp>
      <p:sp>
        <p:nvSpPr>
          <p:cNvPr id="13" name="Shape 11"/>
          <p:cNvSpPr/>
          <p:nvPr/>
        </p:nvSpPr>
        <p:spPr>
          <a:xfrm>
            <a:off x="9034272" y="1737360"/>
            <a:ext cx="32004" cy="32004"/>
          </a:xfrm>
          <a:prstGeom prst="ellipse">
            <a:avLst/>
          </a:prstGeom>
          <a:solidFill>
            <a:srgbClr val="26314F"/>
          </a:solidFill>
          <a:ln/>
        </p:spPr>
        <p:txBody>
          <a:bodyPr/>
          <a:lstStyle/>
          <a:p>
            <a:endParaRPr lang="en-IN"/>
          </a:p>
        </p:txBody>
      </p:sp>
      <p:sp>
        <p:nvSpPr>
          <p:cNvPr id="14" name="Shape 12"/>
          <p:cNvSpPr/>
          <p:nvPr/>
        </p:nvSpPr>
        <p:spPr>
          <a:xfrm>
            <a:off x="9290304" y="457200"/>
            <a:ext cx="32004" cy="32004"/>
          </a:xfrm>
          <a:prstGeom prst="ellipse">
            <a:avLst/>
          </a:prstGeom>
          <a:solidFill>
            <a:srgbClr val="26314F"/>
          </a:solidFill>
          <a:ln/>
        </p:spPr>
        <p:txBody>
          <a:bodyPr/>
          <a:lstStyle/>
          <a:p>
            <a:endParaRPr lang="en-IN"/>
          </a:p>
        </p:txBody>
      </p:sp>
      <p:sp>
        <p:nvSpPr>
          <p:cNvPr id="15" name="Shape 13"/>
          <p:cNvSpPr/>
          <p:nvPr/>
        </p:nvSpPr>
        <p:spPr>
          <a:xfrm>
            <a:off x="9290304" y="713232"/>
            <a:ext cx="32004" cy="32004"/>
          </a:xfrm>
          <a:prstGeom prst="ellipse">
            <a:avLst/>
          </a:prstGeom>
          <a:solidFill>
            <a:srgbClr val="26314F"/>
          </a:solidFill>
          <a:ln/>
        </p:spPr>
        <p:txBody>
          <a:bodyPr/>
          <a:lstStyle/>
          <a:p>
            <a:endParaRPr lang="en-IN"/>
          </a:p>
        </p:txBody>
      </p:sp>
      <p:sp>
        <p:nvSpPr>
          <p:cNvPr id="16" name="Shape 14"/>
          <p:cNvSpPr/>
          <p:nvPr/>
        </p:nvSpPr>
        <p:spPr>
          <a:xfrm>
            <a:off x="9290304" y="969264"/>
            <a:ext cx="32004" cy="32004"/>
          </a:xfrm>
          <a:prstGeom prst="ellipse">
            <a:avLst/>
          </a:prstGeom>
          <a:solidFill>
            <a:srgbClr val="26314F"/>
          </a:solidFill>
          <a:ln/>
        </p:spPr>
        <p:txBody>
          <a:bodyPr/>
          <a:lstStyle/>
          <a:p>
            <a:endParaRPr lang="en-IN"/>
          </a:p>
        </p:txBody>
      </p:sp>
      <p:sp>
        <p:nvSpPr>
          <p:cNvPr id="17" name="Shape 15"/>
          <p:cNvSpPr/>
          <p:nvPr/>
        </p:nvSpPr>
        <p:spPr>
          <a:xfrm>
            <a:off x="9290304" y="1225296"/>
            <a:ext cx="32004" cy="32004"/>
          </a:xfrm>
          <a:prstGeom prst="ellipse">
            <a:avLst/>
          </a:prstGeom>
          <a:solidFill>
            <a:srgbClr val="26314F"/>
          </a:solidFill>
          <a:ln/>
        </p:spPr>
        <p:txBody>
          <a:bodyPr/>
          <a:lstStyle/>
          <a:p>
            <a:endParaRPr lang="en-IN"/>
          </a:p>
        </p:txBody>
      </p:sp>
      <p:sp>
        <p:nvSpPr>
          <p:cNvPr id="18" name="Shape 16"/>
          <p:cNvSpPr/>
          <p:nvPr/>
        </p:nvSpPr>
        <p:spPr>
          <a:xfrm>
            <a:off x="9290304" y="1481328"/>
            <a:ext cx="32004" cy="32004"/>
          </a:xfrm>
          <a:prstGeom prst="ellipse">
            <a:avLst/>
          </a:prstGeom>
          <a:solidFill>
            <a:srgbClr val="26314F"/>
          </a:solidFill>
          <a:ln/>
        </p:spPr>
        <p:txBody>
          <a:bodyPr/>
          <a:lstStyle/>
          <a:p>
            <a:endParaRPr lang="en-IN"/>
          </a:p>
        </p:txBody>
      </p:sp>
      <p:sp>
        <p:nvSpPr>
          <p:cNvPr id="19" name="Shape 17"/>
          <p:cNvSpPr/>
          <p:nvPr/>
        </p:nvSpPr>
        <p:spPr>
          <a:xfrm>
            <a:off x="9290304" y="1737360"/>
            <a:ext cx="32004" cy="32004"/>
          </a:xfrm>
          <a:prstGeom prst="ellipse">
            <a:avLst/>
          </a:prstGeom>
          <a:solidFill>
            <a:srgbClr val="26314F"/>
          </a:solidFill>
          <a:ln/>
        </p:spPr>
        <p:txBody>
          <a:bodyPr/>
          <a:lstStyle/>
          <a:p>
            <a:endParaRPr lang="en-IN"/>
          </a:p>
        </p:txBody>
      </p:sp>
      <p:sp>
        <p:nvSpPr>
          <p:cNvPr id="20" name="Shape 18"/>
          <p:cNvSpPr/>
          <p:nvPr/>
        </p:nvSpPr>
        <p:spPr>
          <a:xfrm>
            <a:off x="9546336" y="457200"/>
            <a:ext cx="32004" cy="32004"/>
          </a:xfrm>
          <a:prstGeom prst="ellipse">
            <a:avLst/>
          </a:prstGeom>
          <a:solidFill>
            <a:srgbClr val="26314F"/>
          </a:solidFill>
          <a:ln/>
        </p:spPr>
        <p:txBody>
          <a:bodyPr/>
          <a:lstStyle/>
          <a:p>
            <a:endParaRPr lang="en-IN"/>
          </a:p>
        </p:txBody>
      </p:sp>
      <p:sp>
        <p:nvSpPr>
          <p:cNvPr id="21" name="Shape 19"/>
          <p:cNvSpPr/>
          <p:nvPr/>
        </p:nvSpPr>
        <p:spPr>
          <a:xfrm>
            <a:off x="9546336" y="713232"/>
            <a:ext cx="32004" cy="32004"/>
          </a:xfrm>
          <a:prstGeom prst="ellipse">
            <a:avLst/>
          </a:prstGeom>
          <a:solidFill>
            <a:srgbClr val="26314F"/>
          </a:solidFill>
          <a:ln/>
        </p:spPr>
        <p:txBody>
          <a:bodyPr/>
          <a:lstStyle/>
          <a:p>
            <a:endParaRPr lang="en-IN"/>
          </a:p>
        </p:txBody>
      </p:sp>
      <p:sp>
        <p:nvSpPr>
          <p:cNvPr id="22" name="Shape 20"/>
          <p:cNvSpPr/>
          <p:nvPr/>
        </p:nvSpPr>
        <p:spPr>
          <a:xfrm>
            <a:off x="9546336" y="969264"/>
            <a:ext cx="32004" cy="32004"/>
          </a:xfrm>
          <a:prstGeom prst="ellipse">
            <a:avLst/>
          </a:prstGeom>
          <a:solidFill>
            <a:srgbClr val="26314F"/>
          </a:solidFill>
          <a:ln/>
        </p:spPr>
        <p:txBody>
          <a:bodyPr/>
          <a:lstStyle/>
          <a:p>
            <a:endParaRPr lang="en-IN"/>
          </a:p>
        </p:txBody>
      </p:sp>
      <p:sp>
        <p:nvSpPr>
          <p:cNvPr id="23" name="Shape 21"/>
          <p:cNvSpPr/>
          <p:nvPr/>
        </p:nvSpPr>
        <p:spPr>
          <a:xfrm>
            <a:off x="9546336" y="1225296"/>
            <a:ext cx="32004" cy="32004"/>
          </a:xfrm>
          <a:prstGeom prst="ellipse">
            <a:avLst/>
          </a:prstGeom>
          <a:solidFill>
            <a:srgbClr val="26314F"/>
          </a:solidFill>
          <a:ln/>
        </p:spPr>
        <p:txBody>
          <a:bodyPr/>
          <a:lstStyle/>
          <a:p>
            <a:endParaRPr lang="en-IN"/>
          </a:p>
        </p:txBody>
      </p:sp>
      <p:sp>
        <p:nvSpPr>
          <p:cNvPr id="24" name="Shape 22"/>
          <p:cNvSpPr/>
          <p:nvPr/>
        </p:nvSpPr>
        <p:spPr>
          <a:xfrm>
            <a:off x="9546336" y="1481328"/>
            <a:ext cx="32004" cy="32004"/>
          </a:xfrm>
          <a:prstGeom prst="ellipse">
            <a:avLst/>
          </a:prstGeom>
          <a:solidFill>
            <a:srgbClr val="26314F"/>
          </a:solidFill>
          <a:ln/>
        </p:spPr>
        <p:txBody>
          <a:bodyPr/>
          <a:lstStyle/>
          <a:p>
            <a:endParaRPr lang="en-IN"/>
          </a:p>
        </p:txBody>
      </p:sp>
      <p:sp>
        <p:nvSpPr>
          <p:cNvPr id="25" name="Shape 23"/>
          <p:cNvSpPr/>
          <p:nvPr/>
        </p:nvSpPr>
        <p:spPr>
          <a:xfrm>
            <a:off x="9546336" y="1737360"/>
            <a:ext cx="32004" cy="32004"/>
          </a:xfrm>
          <a:prstGeom prst="ellipse">
            <a:avLst/>
          </a:prstGeom>
          <a:solidFill>
            <a:srgbClr val="26314F"/>
          </a:solidFill>
          <a:ln/>
        </p:spPr>
        <p:txBody>
          <a:bodyPr/>
          <a:lstStyle/>
          <a:p>
            <a:endParaRPr lang="en-IN"/>
          </a:p>
        </p:txBody>
      </p:sp>
      <p:sp>
        <p:nvSpPr>
          <p:cNvPr id="26" name="Shape 24"/>
          <p:cNvSpPr/>
          <p:nvPr/>
        </p:nvSpPr>
        <p:spPr>
          <a:xfrm>
            <a:off x="9802368" y="457200"/>
            <a:ext cx="32004" cy="32004"/>
          </a:xfrm>
          <a:prstGeom prst="ellipse">
            <a:avLst/>
          </a:prstGeom>
          <a:solidFill>
            <a:srgbClr val="26314F"/>
          </a:solidFill>
          <a:ln/>
        </p:spPr>
        <p:txBody>
          <a:bodyPr/>
          <a:lstStyle/>
          <a:p>
            <a:endParaRPr lang="en-IN"/>
          </a:p>
        </p:txBody>
      </p:sp>
      <p:sp>
        <p:nvSpPr>
          <p:cNvPr id="27" name="Shape 25"/>
          <p:cNvSpPr/>
          <p:nvPr/>
        </p:nvSpPr>
        <p:spPr>
          <a:xfrm>
            <a:off x="9802368" y="713232"/>
            <a:ext cx="32004" cy="32004"/>
          </a:xfrm>
          <a:prstGeom prst="ellipse">
            <a:avLst/>
          </a:prstGeom>
          <a:solidFill>
            <a:srgbClr val="26314F"/>
          </a:solidFill>
          <a:ln/>
        </p:spPr>
        <p:txBody>
          <a:bodyPr/>
          <a:lstStyle/>
          <a:p>
            <a:endParaRPr lang="en-IN"/>
          </a:p>
        </p:txBody>
      </p:sp>
      <p:sp>
        <p:nvSpPr>
          <p:cNvPr id="28" name="Shape 26"/>
          <p:cNvSpPr/>
          <p:nvPr/>
        </p:nvSpPr>
        <p:spPr>
          <a:xfrm>
            <a:off x="9802368" y="969264"/>
            <a:ext cx="32004" cy="32004"/>
          </a:xfrm>
          <a:prstGeom prst="ellipse">
            <a:avLst/>
          </a:prstGeom>
          <a:solidFill>
            <a:srgbClr val="26314F"/>
          </a:solidFill>
          <a:ln/>
        </p:spPr>
        <p:txBody>
          <a:bodyPr/>
          <a:lstStyle/>
          <a:p>
            <a:endParaRPr lang="en-IN"/>
          </a:p>
        </p:txBody>
      </p:sp>
      <p:sp>
        <p:nvSpPr>
          <p:cNvPr id="29" name="Shape 27"/>
          <p:cNvSpPr/>
          <p:nvPr/>
        </p:nvSpPr>
        <p:spPr>
          <a:xfrm>
            <a:off x="9802368" y="1225296"/>
            <a:ext cx="32004" cy="32004"/>
          </a:xfrm>
          <a:prstGeom prst="ellipse">
            <a:avLst/>
          </a:prstGeom>
          <a:solidFill>
            <a:srgbClr val="26314F"/>
          </a:solidFill>
          <a:ln/>
        </p:spPr>
        <p:txBody>
          <a:bodyPr/>
          <a:lstStyle/>
          <a:p>
            <a:endParaRPr lang="en-IN"/>
          </a:p>
        </p:txBody>
      </p:sp>
      <p:sp>
        <p:nvSpPr>
          <p:cNvPr id="30" name="Shape 28"/>
          <p:cNvSpPr/>
          <p:nvPr/>
        </p:nvSpPr>
        <p:spPr>
          <a:xfrm>
            <a:off x="9802368" y="1481328"/>
            <a:ext cx="32004" cy="32004"/>
          </a:xfrm>
          <a:prstGeom prst="ellipse">
            <a:avLst/>
          </a:prstGeom>
          <a:solidFill>
            <a:srgbClr val="26314F"/>
          </a:solidFill>
          <a:ln/>
        </p:spPr>
        <p:txBody>
          <a:bodyPr/>
          <a:lstStyle/>
          <a:p>
            <a:endParaRPr lang="en-IN"/>
          </a:p>
        </p:txBody>
      </p:sp>
      <p:sp>
        <p:nvSpPr>
          <p:cNvPr id="31" name="Shape 29"/>
          <p:cNvSpPr/>
          <p:nvPr/>
        </p:nvSpPr>
        <p:spPr>
          <a:xfrm>
            <a:off x="9802368" y="1737360"/>
            <a:ext cx="32004" cy="32004"/>
          </a:xfrm>
          <a:prstGeom prst="ellipse">
            <a:avLst/>
          </a:prstGeom>
          <a:solidFill>
            <a:srgbClr val="26314F"/>
          </a:solidFill>
          <a:ln/>
        </p:spPr>
        <p:txBody>
          <a:bodyPr/>
          <a:lstStyle/>
          <a:p>
            <a:endParaRPr lang="en-IN"/>
          </a:p>
        </p:txBody>
      </p:sp>
      <p:sp>
        <p:nvSpPr>
          <p:cNvPr id="32" name="Shape 30"/>
          <p:cNvSpPr/>
          <p:nvPr/>
        </p:nvSpPr>
        <p:spPr>
          <a:xfrm>
            <a:off x="10058400" y="457200"/>
            <a:ext cx="32004" cy="32004"/>
          </a:xfrm>
          <a:prstGeom prst="ellipse">
            <a:avLst/>
          </a:prstGeom>
          <a:solidFill>
            <a:srgbClr val="26314F"/>
          </a:solidFill>
          <a:ln/>
        </p:spPr>
        <p:txBody>
          <a:bodyPr/>
          <a:lstStyle/>
          <a:p>
            <a:endParaRPr lang="en-IN"/>
          </a:p>
        </p:txBody>
      </p:sp>
      <p:sp>
        <p:nvSpPr>
          <p:cNvPr id="33" name="Shape 31"/>
          <p:cNvSpPr/>
          <p:nvPr/>
        </p:nvSpPr>
        <p:spPr>
          <a:xfrm>
            <a:off x="10058400" y="713232"/>
            <a:ext cx="32004" cy="32004"/>
          </a:xfrm>
          <a:prstGeom prst="ellipse">
            <a:avLst/>
          </a:prstGeom>
          <a:solidFill>
            <a:srgbClr val="26314F"/>
          </a:solidFill>
          <a:ln/>
        </p:spPr>
        <p:txBody>
          <a:bodyPr/>
          <a:lstStyle/>
          <a:p>
            <a:endParaRPr lang="en-IN"/>
          </a:p>
        </p:txBody>
      </p:sp>
      <p:sp>
        <p:nvSpPr>
          <p:cNvPr id="34" name="Shape 32"/>
          <p:cNvSpPr/>
          <p:nvPr/>
        </p:nvSpPr>
        <p:spPr>
          <a:xfrm>
            <a:off x="10058400" y="969264"/>
            <a:ext cx="32004" cy="32004"/>
          </a:xfrm>
          <a:prstGeom prst="ellipse">
            <a:avLst/>
          </a:prstGeom>
          <a:solidFill>
            <a:srgbClr val="26314F"/>
          </a:solidFill>
          <a:ln/>
        </p:spPr>
        <p:txBody>
          <a:bodyPr/>
          <a:lstStyle/>
          <a:p>
            <a:endParaRPr lang="en-IN"/>
          </a:p>
        </p:txBody>
      </p:sp>
      <p:sp>
        <p:nvSpPr>
          <p:cNvPr id="35" name="Shape 33"/>
          <p:cNvSpPr/>
          <p:nvPr/>
        </p:nvSpPr>
        <p:spPr>
          <a:xfrm>
            <a:off x="10058400" y="1225296"/>
            <a:ext cx="32004" cy="32004"/>
          </a:xfrm>
          <a:prstGeom prst="ellipse">
            <a:avLst/>
          </a:prstGeom>
          <a:solidFill>
            <a:srgbClr val="26314F"/>
          </a:solidFill>
          <a:ln/>
        </p:spPr>
        <p:txBody>
          <a:bodyPr/>
          <a:lstStyle/>
          <a:p>
            <a:endParaRPr lang="en-IN"/>
          </a:p>
        </p:txBody>
      </p:sp>
      <p:sp>
        <p:nvSpPr>
          <p:cNvPr id="36" name="Shape 34"/>
          <p:cNvSpPr/>
          <p:nvPr/>
        </p:nvSpPr>
        <p:spPr>
          <a:xfrm>
            <a:off x="10058400" y="1481328"/>
            <a:ext cx="32004" cy="32004"/>
          </a:xfrm>
          <a:prstGeom prst="ellipse">
            <a:avLst/>
          </a:prstGeom>
          <a:solidFill>
            <a:srgbClr val="26314F"/>
          </a:solidFill>
          <a:ln/>
        </p:spPr>
        <p:txBody>
          <a:bodyPr/>
          <a:lstStyle/>
          <a:p>
            <a:endParaRPr lang="en-IN"/>
          </a:p>
        </p:txBody>
      </p:sp>
      <p:sp>
        <p:nvSpPr>
          <p:cNvPr id="37" name="Shape 35"/>
          <p:cNvSpPr/>
          <p:nvPr/>
        </p:nvSpPr>
        <p:spPr>
          <a:xfrm>
            <a:off x="10058400" y="1737360"/>
            <a:ext cx="32004" cy="32004"/>
          </a:xfrm>
          <a:prstGeom prst="ellipse">
            <a:avLst/>
          </a:prstGeom>
          <a:solidFill>
            <a:srgbClr val="26314F"/>
          </a:solidFill>
          <a:ln/>
        </p:spPr>
        <p:txBody>
          <a:bodyPr/>
          <a:lstStyle/>
          <a:p>
            <a:endParaRPr lang="en-IN"/>
          </a:p>
        </p:txBody>
      </p:sp>
      <p:sp>
        <p:nvSpPr>
          <p:cNvPr id="38" name="Shape 36"/>
          <p:cNvSpPr/>
          <p:nvPr/>
        </p:nvSpPr>
        <p:spPr>
          <a:xfrm>
            <a:off x="822960" y="2331720"/>
            <a:ext cx="1005840" cy="0"/>
          </a:xfrm>
          <a:prstGeom prst="line">
            <a:avLst/>
          </a:prstGeom>
          <a:noFill/>
          <a:ln w="31750">
            <a:solidFill>
              <a:srgbClr val="00E0C6"/>
            </a:solidFill>
            <a:prstDash val="solid"/>
          </a:ln>
        </p:spPr>
        <p:txBody>
          <a:bodyPr/>
          <a:lstStyle/>
          <a:p>
            <a:endParaRPr lang="en-IN"/>
          </a:p>
        </p:txBody>
      </p:sp>
      <p:sp>
        <p:nvSpPr>
          <p:cNvPr id="39" name="Text 37"/>
          <p:cNvSpPr/>
          <p:nvPr/>
        </p:nvSpPr>
        <p:spPr>
          <a:xfrm>
            <a:off x="822960" y="2450592"/>
            <a:ext cx="7315200" cy="320040"/>
          </a:xfrm>
          <a:prstGeom prst="rect">
            <a:avLst/>
          </a:prstGeom>
          <a:noFill/>
          <a:ln/>
        </p:spPr>
        <p:txBody>
          <a:bodyPr wrap="square" rtlCol="0" anchor="ctr"/>
          <a:lstStyle/>
          <a:p>
            <a:pPr marL="0" indent="0">
              <a:buNone/>
            </a:pPr>
            <a:r>
              <a:rPr lang="en-US" sz="1300" b="1" kern="0" spc="200" dirty="0">
                <a:solidFill>
                  <a:srgbClr val="00E0C6"/>
                </a:solidFill>
                <a:latin typeface="Calibri" pitchFamily="34" charset="0"/>
                <a:ea typeface="Calibri" pitchFamily="34" charset="-122"/>
                <a:cs typeface="Calibri" pitchFamily="34" charset="-120"/>
              </a:rPr>
              <a:t>CYBERSECURITY TRAINING SESSION</a:t>
            </a:r>
            <a:endParaRPr lang="en-US" sz="1300" dirty="0"/>
          </a:p>
        </p:txBody>
      </p:sp>
      <p:sp>
        <p:nvSpPr>
          <p:cNvPr id="40" name="Text 38"/>
          <p:cNvSpPr/>
          <p:nvPr/>
        </p:nvSpPr>
        <p:spPr>
          <a:xfrm>
            <a:off x="777240" y="2743200"/>
            <a:ext cx="9875520" cy="13716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Zero Trust Management</a:t>
            </a:r>
            <a:endParaRPr lang="en-US" sz="5400" dirty="0"/>
          </a:p>
        </p:txBody>
      </p:sp>
      <p:sp>
        <p:nvSpPr>
          <p:cNvPr id="41" name="Text 39"/>
          <p:cNvSpPr/>
          <p:nvPr/>
        </p:nvSpPr>
        <p:spPr>
          <a:xfrm>
            <a:off x="822960" y="3977640"/>
            <a:ext cx="8229600" cy="548640"/>
          </a:xfrm>
          <a:prstGeom prst="rect">
            <a:avLst/>
          </a:prstGeom>
          <a:noFill/>
          <a:ln/>
        </p:spPr>
        <p:txBody>
          <a:bodyPr wrap="square" rtlCol="0" anchor="ctr"/>
          <a:lstStyle/>
          <a:p>
            <a:pPr marL="0" indent="0">
              <a:buNone/>
            </a:pPr>
            <a:r>
              <a:rPr lang="en-US" sz="2000" i="1" dirty="0">
                <a:solidFill>
                  <a:srgbClr val="9FB0CE"/>
                </a:solidFill>
                <a:latin typeface="Cambria" pitchFamily="34" charset="0"/>
                <a:ea typeface="Cambria" pitchFamily="34" charset="-122"/>
                <a:cs typeface="Cambria" pitchFamily="34" charset="-120"/>
              </a:rPr>
              <a:t>“Never Trust, Always Verify”</a:t>
            </a:r>
            <a:endParaRPr lang="en-US" sz="2000" dirty="0"/>
          </a:p>
        </p:txBody>
      </p:sp>
      <p:sp>
        <p:nvSpPr>
          <p:cNvPr id="42" name="Shape 40"/>
          <p:cNvSpPr/>
          <p:nvPr/>
        </p:nvSpPr>
        <p:spPr>
          <a:xfrm>
            <a:off x="822960" y="4892040"/>
            <a:ext cx="1307592" cy="384048"/>
          </a:xfrm>
          <a:prstGeom prst="roundRect">
            <a:avLst>
              <a:gd name="adj" fmla="val 50000"/>
            </a:avLst>
          </a:prstGeom>
          <a:solidFill>
            <a:srgbClr val="182444"/>
          </a:solidFill>
          <a:ln/>
        </p:spPr>
        <p:txBody>
          <a:bodyPr/>
          <a:lstStyle/>
          <a:p>
            <a:endParaRPr lang="en-IN"/>
          </a:p>
        </p:txBody>
      </p:sp>
      <p:sp>
        <p:nvSpPr>
          <p:cNvPr id="43" name="Text 41"/>
          <p:cNvSpPr/>
          <p:nvPr/>
        </p:nvSpPr>
        <p:spPr>
          <a:xfrm>
            <a:off x="822960" y="4892040"/>
            <a:ext cx="1307592" cy="384048"/>
          </a:xfrm>
          <a:prstGeom prst="rect">
            <a:avLst/>
          </a:prstGeom>
          <a:noFill/>
          <a:ln/>
        </p:spPr>
        <p:txBody>
          <a:bodyPr wrap="square" rtlCol="0" anchor="ctr"/>
          <a:lstStyle/>
          <a:p>
            <a:pPr marL="0" indent="0" algn="ctr">
              <a:buNone/>
            </a:pPr>
            <a:r>
              <a:rPr lang="en-US" sz="1100" b="1" dirty="0">
                <a:solidFill>
                  <a:srgbClr val="00E0C6"/>
                </a:solidFill>
                <a:latin typeface="Calibri" pitchFamily="34" charset="0"/>
                <a:ea typeface="Calibri" pitchFamily="34" charset="-122"/>
                <a:cs typeface="Calibri" pitchFamily="34" charset="-120"/>
              </a:rPr>
              <a:t>Identity</a:t>
            </a:r>
            <a:endParaRPr lang="en-US" sz="1100" dirty="0"/>
          </a:p>
        </p:txBody>
      </p:sp>
      <p:sp>
        <p:nvSpPr>
          <p:cNvPr id="44" name="Shape 42"/>
          <p:cNvSpPr/>
          <p:nvPr/>
        </p:nvSpPr>
        <p:spPr>
          <a:xfrm>
            <a:off x="2331720" y="4892040"/>
            <a:ext cx="1106424" cy="384048"/>
          </a:xfrm>
          <a:prstGeom prst="roundRect">
            <a:avLst>
              <a:gd name="adj" fmla="val 50000"/>
            </a:avLst>
          </a:prstGeom>
          <a:solidFill>
            <a:srgbClr val="182444"/>
          </a:solidFill>
          <a:ln/>
        </p:spPr>
        <p:txBody>
          <a:bodyPr/>
          <a:lstStyle/>
          <a:p>
            <a:endParaRPr lang="en-IN"/>
          </a:p>
        </p:txBody>
      </p:sp>
      <p:sp>
        <p:nvSpPr>
          <p:cNvPr id="45" name="Text 43"/>
          <p:cNvSpPr/>
          <p:nvPr/>
        </p:nvSpPr>
        <p:spPr>
          <a:xfrm>
            <a:off x="2331720" y="4892040"/>
            <a:ext cx="1106424" cy="384048"/>
          </a:xfrm>
          <a:prstGeom prst="rect">
            <a:avLst/>
          </a:prstGeom>
          <a:noFill/>
          <a:ln/>
        </p:spPr>
        <p:txBody>
          <a:bodyPr wrap="square" rtlCol="0" anchor="ctr"/>
          <a:lstStyle/>
          <a:p>
            <a:pPr marL="0" indent="0" algn="ctr">
              <a:buNone/>
            </a:pPr>
            <a:r>
              <a:rPr lang="en-US" sz="1100" b="1" dirty="0">
                <a:solidFill>
                  <a:srgbClr val="00E0C6"/>
                </a:solidFill>
                <a:latin typeface="Calibri" pitchFamily="34" charset="0"/>
                <a:ea typeface="Calibri" pitchFamily="34" charset="-122"/>
                <a:cs typeface="Calibri" pitchFamily="34" charset="-120"/>
              </a:rPr>
              <a:t>Device</a:t>
            </a:r>
            <a:endParaRPr lang="en-US" sz="1100" dirty="0"/>
          </a:p>
        </p:txBody>
      </p:sp>
      <p:sp>
        <p:nvSpPr>
          <p:cNvPr id="46" name="Shape 44"/>
          <p:cNvSpPr/>
          <p:nvPr/>
        </p:nvSpPr>
        <p:spPr>
          <a:xfrm>
            <a:off x="3639312" y="4892040"/>
            <a:ext cx="1207008" cy="384048"/>
          </a:xfrm>
          <a:prstGeom prst="roundRect">
            <a:avLst>
              <a:gd name="adj" fmla="val 50000"/>
            </a:avLst>
          </a:prstGeom>
          <a:solidFill>
            <a:srgbClr val="182444"/>
          </a:solidFill>
          <a:ln/>
        </p:spPr>
        <p:txBody>
          <a:bodyPr/>
          <a:lstStyle/>
          <a:p>
            <a:endParaRPr lang="en-IN"/>
          </a:p>
        </p:txBody>
      </p:sp>
      <p:sp>
        <p:nvSpPr>
          <p:cNvPr id="47" name="Text 45"/>
          <p:cNvSpPr/>
          <p:nvPr/>
        </p:nvSpPr>
        <p:spPr>
          <a:xfrm>
            <a:off x="3639312" y="4892040"/>
            <a:ext cx="1207008" cy="384048"/>
          </a:xfrm>
          <a:prstGeom prst="rect">
            <a:avLst/>
          </a:prstGeom>
          <a:noFill/>
          <a:ln/>
        </p:spPr>
        <p:txBody>
          <a:bodyPr wrap="square" rtlCol="0" anchor="ctr"/>
          <a:lstStyle/>
          <a:p>
            <a:pPr marL="0" indent="0" algn="ctr">
              <a:buNone/>
            </a:pPr>
            <a:r>
              <a:rPr lang="en-US" sz="1100" b="1" dirty="0">
                <a:solidFill>
                  <a:srgbClr val="00E0C6"/>
                </a:solidFill>
                <a:latin typeface="Calibri" pitchFamily="34" charset="0"/>
                <a:ea typeface="Calibri" pitchFamily="34" charset="-122"/>
                <a:cs typeface="Calibri" pitchFamily="34" charset="-120"/>
              </a:rPr>
              <a:t>Network</a:t>
            </a:r>
            <a:endParaRPr lang="en-US" sz="1100" dirty="0"/>
          </a:p>
        </p:txBody>
      </p:sp>
      <p:sp>
        <p:nvSpPr>
          <p:cNvPr id="48" name="Shape 46"/>
          <p:cNvSpPr/>
          <p:nvPr/>
        </p:nvSpPr>
        <p:spPr>
          <a:xfrm>
            <a:off x="5047488" y="4892040"/>
            <a:ext cx="1609344" cy="384048"/>
          </a:xfrm>
          <a:prstGeom prst="roundRect">
            <a:avLst>
              <a:gd name="adj" fmla="val 50000"/>
            </a:avLst>
          </a:prstGeom>
          <a:solidFill>
            <a:srgbClr val="182444"/>
          </a:solidFill>
          <a:ln/>
        </p:spPr>
        <p:txBody>
          <a:bodyPr/>
          <a:lstStyle/>
          <a:p>
            <a:endParaRPr lang="en-IN"/>
          </a:p>
        </p:txBody>
      </p:sp>
      <p:sp>
        <p:nvSpPr>
          <p:cNvPr id="49" name="Text 47"/>
          <p:cNvSpPr/>
          <p:nvPr/>
        </p:nvSpPr>
        <p:spPr>
          <a:xfrm>
            <a:off x="5047488" y="4892040"/>
            <a:ext cx="1609344" cy="384048"/>
          </a:xfrm>
          <a:prstGeom prst="rect">
            <a:avLst/>
          </a:prstGeom>
          <a:noFill/>
          <a:ln/>
        </p:spPr>
        <p:txBody>
          <a:bodyPr wrap="square" rtlCol="0" anchor="ctr"/>
          <a:lstStyle/>
          <a:p>
            <a:pPr marL="0" indent="0" algn="ctr">
              <a:buNone/>
            </a:pPr>
            <a:r>
              <a:rPr lang="en-US" sz="1100" b="1" dirty="0">
                <a:solidFill>
                  <a:srgbClr val="00E0C6"/>
                </a:solidFill>
                <a:latin typeface="Calibri" pitchFamily="34" charset="0"/>
                <a:ea typeface="Calibri" pitchFamily="34" charset="-122"/>
                <a:cs typeface="Calibri" pitchFamily="34" charset="-120"/>
              </a:rPr>
              <a:t>Application</a:t>
            </a:r>
            <a:endParaRPr lang="en-US" sz="1100" dirty="0"/>
          </a:p>
        </p:txBody>
      </p:sp>
      <p:sp>
        <p:nvSpPr>
          <p:cNvPr id="50" name="Shape 48"/>
          <p:cNvSpPr/>
          <p:nvPr/>
        </p:nvSpPr>
        <p:spPr>
          <a:xfrm>
            <a:off x="6858000" y="4892040"/>
            <a:ext cx="905256" cy="384048"/>
          </a:xfrm>
          <a:prstGeom prst="roundRect">
            <a:avLst>
              <a:gd name="adj" fmla="val 50000"/>
            </a:avLst>
          </a:prstGeom>
          <a:solidFill>
            <a:srgbClr val="182444"/>
          </a:solidFill>
          <a:ln/>
        </p:spPr>
        <p:txBody>
          <a:bodyPr/>
          <a:lstStyle/>
          <a:p>
            <a:endParaRPr lang="en-IN"/>
          </a:p>
        </p:txBody>
      </p:sp>
      <p:sp>
        <p:nvSpPr>
          <p:cNvPr id="51" name="Text 49"/>
          <p:cNvSpPr/>
          <p:nvPr/>
        </p:nvSpPr>
        <p:spPr>
          <a:xfrm>
            <a:off x="6858000" y="4892040"/>
            <a:ext cx="905256" cy="384048"/>
          </a:xfrm>
          <a:prstGeom prst="rect">
            <a:avLst/>
          </a:prstGeom>
          <a:noFill/>
          <a:ln/>
        </p:spPr>
        <p:txBody>
          <a:bodyPr wrap="square" rtlCol="0" anchor="ctr"/>
          <a:lstStyle/>
          <a:p>
            <a:pPr marL="0" indent="0" algn="ctr">
              <a:buNone/>
            </a:pPr>
            <a:r>
              <a:rPr lang="en-US" sz="1100" b="1" dirty="0">
                <a:solidFill>
                  <a:srgbClr val="00E0C6"/>
                </a:solidFill>
                <a:latin typeface="Calibri" pitchFamily="34" charset="0"/>
                <a:ea typeface="Calibri" pitchFamily="34" charset="-122"/>
                <a:cs typeface="Calibri" pitchFamily="34" charset="-120"/>
              </a:rPr>
              <a:t>Data</a:t>
            </a:r>
            <a:endParaRPr lang="en-US" sz="1100" dirty="0"/>
          </a:p>
        </p:txBody>
      </p:sp>
      <p:sp>
        <p:nvSpPr>
          <p:cNvPr id="52" name="Text 50"/>
          <p:cNvSpPr/>
          <p:nvPr/>
        </p:nvSpPr>
        <p:spPr>
          <a:xfrm>
            <a:off x="822960" y="5989320"/>
            <a:ext cx="9144000" cy="320040"/>
          </a:xfrm>
          <a:prstGeom prst="rect">
            <a:avLst/>
          </a:prstGeom>
          <a:noFill/>
          <a:ln/>
        </p:spPr>
        <p:txBody>
          <a:bodyPr wrap="square" rtlCol="0" anchor="ctr"/>
          <a:lstStyle/>
          <a:p>
            <a:pPr marL="0" indent="0">
              <a:buNone/>
            </a:pPr>
            <a:r>
              <a:rPr lang="en-US" sz="1100" dirty="0">
                <a:solidFill>
                  <a:srgbClr val="5E6E8F"/>
                </a:solidFill>
                <a:latin typeface="Calibri" pitchFamily="34" charset="0"/>
                <a:ea typeface="Calibri" pitchFamily="34" charset="-122"/>
                <a:cs typeface="Calibri" pitchFamily="34" charset="-120"/>
              </a:rPr>
              <a:t>30-Minute Training Session  •  Zero Trust Architecture &amp; Policy Enforcement</a:t>
            </a:r>
            <a:endParaRPr lang="en-US" sz="1100" dirty="0"/>
          </a:p>
        </p:txBody>
      </p:sp>
      <p:sp>
        <p:nvSpPr>
          <p:cNvPr id="53" name="Shape 51"/>
          <p:cNvSpPr/>
          <p:nvPr/>
        </p:nvSpPr>
        <p:spPr>
          <a:xfrm>
            <a:off x="10561320" y="2926080"/>
            <a:ext cx="1371600" cy="1371600"/>
          </a:xfrm>
          <a:prstGeom prst="ellipse">
            <a:avLst/>
          </a:prstGeom>
          <a:ln w="15875">
            <a:solidFill>
              <a:srgbClr val="00E0C6"/>
            </a:solidFill>
            <a:prstDash val="solid"/>
          </a:ln>
        </p:spPr>
        <p:txBody>
          <a:bodyPr/>
          <a:lstStyle/>
          <a:p>
            <a:endParaRPr lang="en-IN"/>
          </a:p>
        </p:txBody>
      </p:sp>
      <p:sp>
        <p:nvSpPr>
          <p:cNvPr id="54" name="Shape 52"/>
          <p:cNvSpPr/>
          <p:nvPr/>
        </p:nvSpPr>
        <p:spPr>
          <a:xfrm>
            <a:off x="10835640" y="3200400"/>
            <a:ext cx="822960" cy="822960"/>
          </a:xfrm>
          <a:prstGeom prst="ellipse">
            <a:avLst/>
          </a:prstGeom>
          <a:ln w="15875">
            <a:solidFill>
              <a:srgbClr val="3D8BFF"/>
            </a:solidFill>
            <a:prstDash val="solid"/>
          </a:ln>
        </p:spPr>
        <p:txBody>
          <a:bodyPr/>
          <a:lstStyle/>
          <a:p>
            <a:endParaRPr lang="en-IN"/>
          </a:p>
        </p:txBody>
      </p:sp>
      <p:sp>
        <p:nvSpPr>
          <p:cNvPr id="55" name="Text 53"/>
          <p:cNvSpPr/>
          <p:nvPr/>
        </p:nvSpPr>
        <p:spPr>
          <a:xfrm>
            <a:off x="0" y="0"/>
            <a:ext cx="9144" cy="9144"/>
          </a:xfrm>
          <a:prstGeom prst="rect">
            <a:avLst/>
          </a:prstGeom>
          <a:noFill/>
          <a:ln/>
        </p:spPr>
        <p:txBody>
          <a:bodyPr wrap="square" rtlCol="0" anchor="ctr"/>
          <a:lstStyle/>
          <a:p>
            <a:pPr marL="0" indent="0">
              <a:buNone/>
            </a:pPr>
            <a:r>
              <a:rPr lang="en-US" sz="100" dirty="0">
                <a:solidFill>
                  <a:srgbClr val="000000"/>
                </a:solidFill>
              </a:rPr>
              <a:t>0</a:t>
            </a:r>
            <a:endParaRPr lang="en-US" sz="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What is Zero Trust?</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02 / 25</a:t>
            </a:r>
            <a:endParaRPr lang="en-US" sz="900" dirty="0"/>
          </a:p>
        </p:txBody>
      </p:sp>
      <p:sp>
        <p:nvSpPr>
          <p:cNvPr id="8" name="Text 6"/>
          <p:cNvSpPr/>
          <p:nvPr/>
        </p:nvSpPr>
        <p:spPr>
          <a:xfrm>
            <a:off x="548640" y="1691640"/>
            <a:ext cx="5577840" cy="4114800"/>
          </a:xfrm>
          <a:prstGeom prst="rect">
            <a:avLst/>
          </a:prstGeom>
          <a:noFill/>
          <a:ln/>
        </p:spPr>
        <p:txBody>
          <a:bodyPr wrap="square" rtlCol="0" anchor="t"/>
          <a:lstStyle/>
          <a:p>
            <a:pPr marL="228600" indent="-228600">
              <a:lnSpc>
                <a:spcPct val="115000"/>
              </a:lnSpc>
              <a:spcAft>
                <a:spcPts val="1400"/>
              </a:spcAft>
              <a:buSzPct val="100000"/>
              <a:buChar char="▪"/>
            </a:pPr>
            <a:r>
              <a:rPr lang="en-US" sz="1550" dirty="0">
                <a:solidFill>
                  <a:srgbClr val="9FB0CE"/>
                </a:solidFill>
                <a:latin typeface="Calibri" pitchFamily="34" charset="0"/>
                <a:ea typeface="Calibri" pitchFamily="34" charset="-122"/>
                <a:cs typeface="Calibri" pitchFamily="34" charset="-120"/>
              </a:rPr>
              <a:t>A security model built on one rule: never trust automatically</a:t>
            </a:r>
            <a:endParaRPr lang="en-US" sz="1550" dirty="0"/>
          </a:p>
          <a:p>
            <a:pPr marL="228600" indent="-228600">
              <a:lnSpc>
                <a:spcPct val="115000"/>
              </a:lnSpc>
              <a:spcAft>
                <a:spcPts val="1400"/>
              </a:spcAft>
              <a:buSzPct val="100000"/>
              <a:buChar char="▪"/>
            </a:pPr>
            <a:r>
              <a:rPr lang="en-US" sz="1550" dirty="0">
                <a:solidFill>
                  <a:srgbClr val="9FB0CE"/>
                </a:solidFill>
                <a:latin typeface="Calibri" pitchFamily="34" charset="0"/>
                <a:ea typeface="Calibri" pitchFamily="34" charset="-122"/>
                <a:cs typeface="Calibri" pitchFamily="34" charset="-120"/>
              </a:rPr>
              <a:t>No implicit trust for any user, device, or system</a:t>
            </a:r>
            <a:endParaRPr lang="en-US" sz="1550" dirty="0"/>
          </a:p>
          <a:p>
            <a:pPr marL="228600" indent="-228600">
              <a:lnSpc>
                <a:spcPct val="115000"/>
              </a:lnSpc>
              <a:spcAft>
                <a:spcPts val="1400"/>
              </a:spcAft>
              <a:buSzPct val="100000"/>
              <a:buChar char="▪"/>
            </a:pPr>
            <a:r>
              <a:rPr lang="en-US" sz="1550" dirty="0">
                <a:solidFill>
                  <a:srgbClr val="9FB0CE"/>
                </a:solidFill>
                <a:latin typeface="Calibri" pitchFamily="34" charset="0"/>
                <a:ea typeface="Calibri" pitchFamily="34" charset="-122"/>
                <a:cs typeface="Calibri" pitchFamily="34" charset="-120"/>
              </a:rPr>
              <a:t>Every access request is verified, regardless of location</a:t>
            </a:r>
            <a:endParaRPr lang="en-US" sz="1550" dirty="0"/>
          </a:p>
          <a:p>
            <a:pPr marL="228600" indent="-228600">
              <a:lnSpc>
                <a:spcPct val="115000"/>
              </a:lnSpc>
              <a:spcAft>
                <a:spcPts val="1400"/>
              </a:spcAft>
              <a:buSzPct val="100000"/>
              <a:buChar char="▪"/>
            </a:pPr>
            <a:r>
              <a:rPr lang="en-US" sz="1550" dirty="0">
                <a:solidFill>
                  <a:srgbClr val="9FB0CE"/>
                </a:solidFill>
                <a:latin typeface="Calibri" pitchFamily="34" charset="0"/>
                <a:ea typeface="Calibri" pitchFamily="34" charset="-122"/>
                <a:cs typeface="Calibri" pitchFamily="34" charset="-120"/>
              </a:rPr>
              <a:t>Validation happens continuously, not just at login</a:t>
            </a:r>
            <a:endParaRPr lang="en-US" sz="1550" dirty="0"/>
          </a:p>
          <a:p>
            <a:pPr marL="228600" indent="-228600">
              <a:lnSpc>
                <a:spcPct val="115000"/>
              </a:lnSpc>
              <a:spcAft>
                <a:spcPts val="1400"/>
              </a:spcAft>
              <a:buSzPct val="100000"/>
              <a:buChar char="▪"/>
            </a:pPr>
            <a:r>
              <a:rPr lang="en-US" sz="1550" dirty="0">
                <a:solidFill>
                  <a:srgbClr val="9FB0CE"/>
                </a:solidFill>
                <a:latin typeface="Calibri" pitchFamily="34" charset="0"/>
                <a:ea typeface="Calibri" pitchFamily="34" charset="-122"/>
                <a:cs typeface="Calibri" pitchFamily="34" charset="-120"/>
              </a:rPr>
              <a:t>Access is granted using least privilege</a:t>
            </a:r>
            <a:endParaRPr lang="en-US" sz="1550" dirty="0"/>
          </a:p>
        </p:txBody>
      </p:sp>
      <p:sp>
        <p:nvSpPr>
          <p:cNvPr id="9" name="Shape 7"/>
          <p:cNvSpPr/>
          <p:nvPr/>
        </p:nvSpPr>
        <p:spPr>
          <a:xfrm>
            <a:off x="6537960" y="1691640"/>
            <a:ext cx="5120640" cy="4343400"/>
          </a:xfrm>
          <a:prstGeom prst="roundRect">
            <a:avLst>
              <a:gd name="adj" fmla="val 1684"/>
            </a:avLst>
          </a:prstGeom>
          <a:solidFill>
            <a:srgbClr val="121A2E"/>
          </a:solidFill>
          <a:ln w="12700">
            <a:solidFill>
              <a:srgbClr val="26314F"/>
            </a:solidFill>
            <a:prstDash val="solid"/>
          </a:ln>
        </p:spPr>
        <p:txBody>
          <a:bodyPr/>
          <a:lstStyle/>
          <a:p>
            <a:endParaRPr lang="en-IN"/>
          </a:p>
        </p:txBody>
      </p:sp>
      <p:sp>
        <p:nvSpPr>
          <p:cNvPr id="10" name="Shape 8"/>
          <p:cNvSpPr/>
          <p:nvPr/>
        </p:nvSpPr>
        <p:spPr>
          <a:xfrm>
            <a:off x="6812280" y="1965960"/>
            <a:ext cx="4572000" cy="457200"/>
          </a:xfrm>
          <a:prstGeom prst="roundRect">
            <a:avLst>
              <a:gd name="adj" fmla="val 12000"/>
            </a:avLst>
          </a:prstGeom>
          <a:solidFill>
            <a:srgbClr val="182444"/>
          </a:solidFill>
          <a:ln/>
        </p:spPr>
        <p:txBody>
          <a:bodyPr/>
          <a:lstStyle/>
          <a:p>
            <a:endParaRPr lang="en-IN"/>
          </a:p>
        </p:txBody>
      </p:sp>
      <p:sp>
        <p:nvSpPr>
          <p:cNvPr id="11" name="Text 9"/>
          <p:cNvSpPr/>
          <p:nvPr/>
        </p:nvSpPr>
        <p:spPr>
          <a:xfrm>
            <a:off x="6812280" y="1965960"/>
            <a:ext cx="4572000" cy="457200"/>
          </a:xfrm>
          <a:prstGeom prst="rect">
            <a:avLst/>
          </a:prstGeom>
          <a:noFill/>
          <a:ln/>
        </p:spPr>
        <p:txBody>
          <a:bodyPr wrap="square" rtlCol="0" anchor="ctr"/>
          <a:lstStyle/>
          <a:p>
            <a:pPr marL="0" indent="0" algn="ctr">
              <a:buNone/>
            </a:pPr>
            <a:r>
              <a:rPr lang="en-US" sz="1200" b="1" dirty="0">
                <a:solidFill>
                  <a:srgbClr val="FF5A6E"/>
                </a:solidFill>
                <a:latin typeface="Calibri" pitchFamily="34" charset="0"/>
                <a:ea typeface="Calibri" pitchFamily="34" charset="-122"/>
                <a:cs typeface="Calibri" pitchFamily="34" charset="-120"/>
              </a:rPr>
              <a:t>OLD MODEL</a:t>
            </a:r>
            <a:endParaRPr lang="en-US" sz="1200" dirty="0"/>
          </a:p>
        </p:txBody>
      </p:sp>
      <p:sp>
        <p:nvSpPr>
          <p:cNvPr id="12" name="Text 10"/>
          <p:cNvSpPr/>
          <p:nvPr/>
        </p:nvSpPr>
        <p:spPr>
          <a:xfrm>
            <a:off x="6812280" y="2468880"/>
            <a:ext cx="4572000" cy="365760"/>
          </a:xfrm>
          <a:prstGeom prst="rect">
            <a:avLst/>
          </a:prstGeom>
          <a:noFill/>
          <a:ln/>
        </p:spPr>
        <p:txBody>
          <a:bodyPr wrap="square" rtlCol="0" anchor="ctr"/>
          <a:lstStyle/>
          <a:p>
            <a:pPr marL="0" indent="0" algn="ctr">
              <a:buNone/>
            </a:pPr>
            <a:r>
              <a:rPr lang="en-US" sz="1300" i="1" dirty="0">
                <a:solidFill>
                  <a:srgbClr val="9FB0CE"/>
                </a:solidFill>
                <a:latin typeface="Calibri" pitchFamily="34" charset="0"/>
                <a:ea typeface="Calibri" pitchFamily="34" charset="-122"/>
                <a:cs typeface="Calibri" pitchFamily="34" charset="-120"/>
              </a:rPr>
              <a:t>“Inside the network = trusted”</a:t>
            </a:r>
            <a:endParaRPr lang="en-US" sz="1300" dirty="0"/>
          </a:p>
        </p:txBody>
      </p:sp>
      <p:sp>
        <p:nvSpPr>
          <p:cNvPr id="13" name="Shape 11"/>
          <p:cNvSpPr/>
          <p:nvPr/>
        </p:nvSpPr>
        <p:spPr>
          <a:xfrm>
            <a:off x="9098280" y="2880360"/>
            <a:ext cx="0" cy="320040"/>
          </a:xfrm>
          <a:prstGeom prst="line">
            <a:avLst/>
          </a:prstGeom>
          <a:noFill/>
          <a:ln w="19050">
            <a:solidFill>
              <a:srgbClr val="00E0C6"/>
            </a:solidFill>
            <a:prstDash val="solid"/>
            <a:tailEnd type="triangle"/>
          </a:ln>
        </p:spPr>
        <p:txBody>
          <a:bodyPr/>
          <a:lstStyle/>
          <a:p>
            <a:endParaRPr lang="en-IN"/>
          </a:p>
        </p:txBody>
      </p:sp>
      <p:sp>
        <p:nvSpPr>
          <p:cNvPr id="14" name="Shape 12"/>
          <p:cNvSpPr/>
          <p:nvPr/>
        </p:nvSpPr>
        <p:spPr>
          <a:xfrm>
            <a:off x="6812280" y="3246120"/>
            <a:ext cx="4572000" cy="457200"/>
          </a:xfrm>
          <a:prstGeom prst="roundRect">
            <a:avLst>
              <a:gd name="adj" fmla="val 12000"/>
            </a:avLst>
          </a:prstGeom>
          <a:solidFill>
            <a:srgbClr val="0E3A34"/>
          </a:solidFill>
          <a:ln/>
        </p:spPr>
        <p:txBody>
          <a:bodyPr/>
          <a:lstStyle/>
          <a:p>
            <a:endParaRPr lang="en-IN"/>
          </a:p>
        </p:txBody>
      </p:sp>
      <p:sp>
        <p:nvSpPr>
          <p:cNvPr id="15" name="Text 13"/>
          <p:cNvSpPr/>
          <p:nvPr/>
        </p:nvSpPr>
        <p:spPr>
          <a:xfrm>
            <a:off x="6812280" y="3246120"/>
            <a:ext cx="4572000" cy="457200"/>
          </a:xfrm>
          <a:prstGeom prst="rect">
            <a:avLst/>
          </a:prstGeom>
          <a:noFill/>
          <a:ln/>
        </p:spPr>
        <p:txBody>
          <a:bodyPr wrap="square" rtlCol="0" anchor="ctr"/>
          <a:lstStyle/>
          <a:p>
            <a:pPr marL="0" indent="0" algn="ctr">
              <a:buNone/>
            </a:pPr>
            <a:r>
              <a:rPr lang="en-US" sz="1200" b="1" dirty="0">
                <a:solidFill>
                  <a:srgbClr val="4ADE80"/>
                </a:solidFill>
                <a:latin typeface="Calibri" pitchFamily="34" charset="0"/>
                <a:ea typeface="Calibri" pitchFamily="34" charset="-122"/>
                <a:cs typeface="Calibri" pitchFamily="34" charset="-120"/>
              </a:rPr>
              <a:t>ZERO TRUST MODEL</a:t>
            </a:r>
            <a:endParaRPr lang="en-US" sz="1200" dirty="0"/>
          </a:p>
        </p:txBody>
      </p:sp>
      <p:sp>
        <p:nvSpPr>
          <p:cNvPr id="16" name="Text 14"/>
          <p:cNvSpPr/>
          <p:nvPr/>
        </p:nvSpPr>
        <p:spPr>
          <a:xfrm>
            <a:off x="6812280" y="3749040"/>
            <a:ext cx="4572000" cy="365760"/>
          </a:xfrm>
          <a:prstGeom prst="rect">
            <a:avLst/>
          </a:prstGeom>
          <a:noFill/>
          <a:ln/>
        </p:spPr>
        <p:txBody>
          <a:bodyPr wrap="square" rtlCol="0" anchor="ctr"/>
          <a:lstStyle/>
          <a:p>
            <a:pPr marL="0" indent="0" algn="ctr">
              <a:buNone/>
            </a:pPr>
            <a:r>
              <a:rPr lang="en-US" sz="1300" i="1" dirty="0">
                <a:solidFill>
                  <a:srgbClr val="9FB0CE"/>
                </a:solidFill>
                <a:latin typeface="Calibri" pitchFamily="34" charset="0"/>
                <a:ea typeface="Calibri" pitchFamily="34" charset="-122"/>
                <a:cs typeface="Calibri" pitchFamily="34" charset="-120"/>
              </a:rPr>
              <a:t>“Trust nothing until verified — every time”</a:t>
            </a:r>
            <a:endParaRPr lang="en-US" sz="1300" dirty="0"/>
          </a:p>
        </p:txBody>
      </p:sp>
      <p:sp>
        <p:nvSpPr>
          <p:cNvPr id="17" name="Shape 15"/>
          <p:cNvSpPr/>
          <p:nvPr/>
        </p:nvSpPr>
        <p:spPr>
          <a:xfrm>
            <a:off x="6812280" y="4343400"/>
            <a:ext cx="4572000" cy="0"/>
          </a:xfrm>
          <a:prstGeom prst="line">
            <a:avLst/>
          </a:prstGeom>
          <a:noFill/>
          <a:ln w="9525">
            <a:solidFill>
              <a:srgbClr val="26314F"/>
            </a:solidFill>
            <a:prstDash val="solid"/>
          </a:ln>
        </p:spPr>
        <p:txBody>
          <a:bodyPr/>
          <a:lstStyle/>
          <a:p>
            <a:endParaRPr lang="en-IN"/>
          </a:p>
        </p:txBody>
      </p:sp>
      <p:sp>
        <p:nvSpPr>
          <p:cNvPr id="18" name="Text 16"/>
          <p:cNvSpPr/>
          <p:nvPr/>
        </p:nvSpPr>
        <p:spPr>
          <a:xfrm>
            <a:off x="6812280" y="4526280"/>
            <a:ext cx="4572000" cy="1371600"/>
          </a:xfrm>
          <a:prstGeom prst="rect">
            <a:avLst/>
          </a:prstGeom>
          <a:noFill/>
          <a:ln/>
        </p:spPr>
        <p:txBody>
          <a:bodyPr wrap="square" rtlCol="0" anchor="ctr"/>
          <a:lstStyle/>
          <a:p>
            <a:pPr marL="0" indent="0">
              <a:buNone/>
            </a:pPr>
            <a:r>
              <a:rPr lang="en-US" sz="1250" i="1" dirty="0">
                <a:solidFill>
                  <a:srgbClr val="9FB0CE"/>
                </a:solidFill>
                <a:latin typeface="Calibri" pitchFamily="34" charset="0"/>
                <a:ea typeface="Calibri" pitchFamily="34" charset="-122"/>
                <a:cs typeface="Calibri" pitchFamily="34" charset="-120"/>
              </a:rPr>
              <a:t>Even an employee already inside the corporate network is not automatically trusted. Their identity, device, and context are checked on every request.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Why Do We Need Zero Trust?</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03 / 25</a:t>
            </a:r>
            <a:endParaRPr lang="en-US" sz="900" dirty="0"/>
          </a:p>
        </p:txBody>
      </p:sp>
      <p:sp>
        <p:nvSpPr>
          <p:cNvPr id="8" name="Shape 6"/>
          <p:cNvSpPr/>
          <p:nvPr/>
        </p:nvSpPr>
        <p:spPr>
          <a:xfrm>
            <a:off x="548640" y="1783080"/>
            <a:ext cx="3246120" cy="1600200"/>
          </a:xfrm>
          <a:prstGeom prst="roundRect">
            <a:avLst>
              <a:gd name="adj" fmla="val 4571"/>
            </a:avLst>
          </a:prstGeom>
          <a:solidFill>
            <a:srgbClr val="121A2E"/>
          </a:solidFill>
          <a:ln w="12700">
            <a:solidFill>
              <a:srgbClr val="26314F"/>
            </a:solidFill>
            <a:prstDash val="solid"/>
          </a:ln>
        </p:spPr>
        <p:txBody>
          <a:bodyPr/>
          <a:lstStyle/>
          <a:p>
            <a:endParaRPr lang="en-IN"/>
          </a:p>
        </p:txBody>
      </p:sp>
      <p:sp>
        <p:nvSpPr>
          <p:cNvPr id="9" name="Shape 7"/>
          <p:cNvSpPr/>
          <p:nvPr/>
        </p:nvSpPr>
        <p:spPr>
          <a:xfrm>
            <a:off x="777240" y="2011680"/>
            <a:ext cx="457200" cy="457200"/>
          </a:xfrm>
          <a:prstGeom prst="ellipse">
            <a:avLst/>
          </a:prstGeom>
          <a:solidFill>
            <a:srgbClr val="00E0C6"/>
          </a:solidFill>
          <a:ln/>
        </p:spPr>
        <p:txBody>
          <a:bodyPr/>
          <a:lstStyle/>
          <a:p>
            <a:endParaRPr lang="en-IN"/>
          </a:p>
        </p:txBody>
      </p:sp>
      <p:sp>
        <p:nvSpPr>
          <p:cNvPr id="10" name="Text 8"/>
          <p:cNvSpPr/>
          <p:nvPr/>
        </p:nvSpPr>
        <p:spPr>
          <a:xfrm>
            <a:off x="777240" y="2011680"/>
            <a:ext cx="457200" cy="457200"/>
          </a:xfrm>
          <a:prstGeom prst="rect">
            <a:avLst/>
          </a:prstGeom>
          <a:noFill/>
          <a:ln/>
        </p:spPr>
        <p:txBody>
          <a:bodyPr wrap="square" rtlCol="0" anchor="ctr"/>
          <a:lstStyle/>
          <a:p>
            <a:pPr marL="0" indent="0" algn="ctr">
              <a:buNone/>
            </a:pPr>
            <a:r>
              <a:rPr lang="en-US" sz="1000" b="1" dirty="0">
                <a:solidFill>
                  <a:srgbClr val="0A0E1A"/>
                </a:solidFill>
                <a:latin typeface="Calibri" pitchFamily="34" charset="0"/>
                <a:ea typeface="Calibri" pitchFamily="34" charset="-122"/>
                <a:cs typeface="Calibri" pitchFamily="34" charset="-120"/>
              </a:rPr>
              <a:t>C</a:t>
            </a:r>
            <a:endParaRPr lang="en-US" sz="1000" dirty="0"/>
          </a:p>
        </p:txBody>
      </p:sp>
      <p:sp>
        <p:nvSpPr>
          <p:cNvPr id="11" name="Text 9"/>
          <p:cNvSpPr/>
          <p:nvPr/>
        </p:nvSpPr>
        <p:spPr>
          <a:xfrm>
            <a:off x="1417320" y="1984248"/>
            <a:ext cx="22402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Cloud Apps</a:t>
            </a:r>
            <a:endParaRPr lang="en-US" sz="1500" dirty="0"/>
          </a:p>
        </p:txBody>
      </p:sp>
      <p:sp>
        <p:nvSpPr>
          <p:cNvPr id="12" name="Text 10"/>
          <p:cNvSpPr/>
          <p:nvPr/>
        </p:nvSpPr>
        <p:spPr>
          <a:xfrm>
            <a:off x="777240" y="2560320"/>
            <a:ext cx="2788920" cy="731520"/>
          </a:xfrm>
          <a:prstGeom prst="rect">
            <a:avLst/>
          </a:prstGeom>
          <a:noFill/>
          <a:ln/>
        </p:spPr>
        <p:txBody>
          <a:bodyPr wrap="square" rtlCol="0" anchor="t"/>
          <a:lstStyle/>
          <a:p>
            <a:pPr marL="0" indent="0">
              <a:buNone/>
            </a:pPr>
            <a:r>
              <a:rPr lang="en-US" sz="1150" dirty="0">
                <a:solidFill>
                  <a:srgbClr val="9FB0CE"/>
                </a:solidFill>
                <a:latin typeface="Calibri" pitchFamily="34" charset="0"/>
                <a:ea typeface="Calibri" pitchFamily="34" charset="-122"/>
                <a:cs typeface="Calibri" pitchFamily="34" charset="-120"/>
              </a:rPr>
              <a:t>SaaS platforms outside the traditional network</a:t>
            </a:r>
            <a:endParaRPr lang="en-US" sz="1150" dirty="0"/>
          </a:p>
        </p:txBody>
      </p:sp>
      <p:sp>
        <p:nvSpPr>
          <p:cNvPr id="13" name="Shape 11"/>
          <p:cNvSpPr/>
          <p:nvPr/>
        </p:nvSpPr>
        <p:spPr>
          <a:xfrm>
            <a:off x="4050792" y="1783080"/>
            <a:ext cx="3246120" cy="1600200"/>
          </a:xfrm>
          <a:prstGeom prst="roundRect">
            <a:avLst>
              <a:gd name="adj" fmla="val 4571"/>
            </a:avLst>
          </a:prstGeom>
          <a:solidFill>
            <a:srgbClr val="121A2E"/>
          </a:solidFill>
          <a:ln w="12700">
            <a:solidFill>
              <a:srgbClr val="26314F"/>
            </a:solidFill>
            <a:prstDash val="solid"/>
          </a:ln>
        </p:spPr>
        <p:txBody>
          <a:bodyPr/>
          <a:lstStyle/>
          <a:p>
            <a:endParaRPr lang="en-IN"/>
          </a:p>
        </p:txBody>
      </p:sp>
      <p:sp>
        <p:nvSpPr>
          <p:cNvPr id="14" name="Shape 12"/>
          <p:cNvSpPr/>
          <p:nvPr/>
        </p:nvSpPr>
        <p:spPr>
          <a:xfrm>
            <a:off x="4279392" y="2011680"/>
            <a:ext cx="457200" cy="457200"/>
          </a:xfrm>
          <a:prstGeom prst="ellipse">
            <a:avLst/>
          </a:prstGeom>
          <a:solidFill>
            <a:srgbClr val="00E0C6"/>
          </a:solidFill>
          <a:ln/>
        </p:spPr>
        <p:txBody>
          <a:bodyPr/>
          <a:lstStyle/>
          <a:p>
            <a:endParaRPr lang="en-IN"/>
          </a:p>
        </p:txBody>
      </p:sp>
      <p:sp>
        <p:nvSpPr>
          <p:cNvPr id="15" name="Text 13"/>
          <p:cNvSpPr/>
          <p:nvPr/>
        </p:nvSpPr>
        <p:spPr>
          <a:xfrm>
            <a:off x="4279392" y="2011680"/>
            <a:ext cx="457200" cy="457200"/>
          </a:xfrm>
          <a:prstGeom prst="rect">
            <a:avLst/>
          </a:prstGeom>
          <a:noFill/>
          <a:ln/>
        </p:spPr>
        <p:txBody>
          <a:bodyPr wrap="square" rtlCol="0" anchor="ctr"/>
          <a:lstStyle/>
          <a:p>
            <a:pPr marL="0" indent="0" algn="ctr">
              <a:buNone/>
            </a:pPr>
            <a:r>
              <a:rPr lang="en-US" sz="1000" b="1" dirty="0">
                <a:solidFill>
                  <a:srgbClr val="0A0E1A"/>
                </a:solidFill>
                <a:latin typeface="Calibri" pitchFamily="34" charset="0"/>
                <a:ea typeface="Calibri" pitchFamily="34" charset="-122"/>
                <a:cs typeface="Calibri" pitchFamily="34" charset="-120"/>
              </a:rPr>
              <a:t>R</a:t>
            </a:r>
            <a:endParaRPr lang="en-US" sz="1000" dirty="0"/>
          </a:p>
        </p:txBody>
      </p:sp>
      <p:sp>
        <p:nvSpPr>
          <p:cNvPr id="16" name="Text 14"/>
          <p:cNvSpPr/>
          <p:nvPr/>
        </p:nvSpPr>
        <p:spPr>
          <a:xfrm>
            <a:off x="4919472" y="1984248"/>
            <a:ext cx="22402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Remote Work</a:t>
            </a:r>
            <a:endParaRPr lang="en-US" sz="1500" dirty="0"/>
          </a:p>
        </p:txBody>
      </p:sp>
      <p:sp>
        <p:nvSpPr>
          <p:cNvPr id="17" name="Text 15"/>
          <p:cNvSpPr/>
          <p:nvPr/>
        </p:nvSpPr>
        <p:spPr>
          <a:xfrm>
            <a:off x="4279392" y="2560320"/>
            <a:ext cx="2788920" cy="731520"/>
          </a:xfrm>
          <a:prstGeom prst="rect">
            <a:avLst/>
          </a:prstGeom>
          <a:noFill/>
          <a:ln/>
        </p:spPr>
        <p:txBody>
          <a:bodyPr wrap="square" rtlCol="0" anchor="t"/>
          <a:lstStyle/>
          <a:p>
            <a:pPr marL="0" indent="0">
              <a:buNone/>
            </a:pPr>
            <a:r>
              <a:rPr lang="en-US" sz="1150" dirty="0">
                <a:solidFill>
                  <a:srgbClr val="9FB0CE"/>
                </a:solidFill>
                <a:latin typeface="Calibri" pitchFamily="34" charset="0"/>
                <a:ea typeface="Calibri" pitchFamily="34" charset="-122"/>
                <a:cs typeface="Calibri" pitchFamily="34" charset="-120"/>
              </a:rPr>
              <a:t>Employees connect from homes, cafes, airports</a:t>
            </a:r>
            <a:endParaRPr lang="en-US" sz="1150" dirty="0"/>
          </a:p>
        </p:txBody>
      </p:sp>
      <p:sp>
        <p:nvSpPr>
          <p:cNvPr id="18" name="Shape 16"/>
          <p:cNvSpPr/>
          <p:nvPr/>
        </p:nvSpPr>
        <p:spPr>
          <a:xfrm>
            <a:off x="7552944" y="1783080"/>
            <a:ext cx="3246120" cy="1600200"/>
          </a:xfrm>
          <a:prstGeom prst="roundRect">
            <a:avLst>
              <a:gd name="adj" fmla="val 4571"/>
            </a:avLst>
          </a:prstGeom>
          <a:solidFill>
            <a:srgbClr val="121A2E"/>
          </a:solidFill>
          <a:ln w="12700">
            <a:solidFill>
              <a:srgbClr val="26314F"/>
            </a:solidFill>
            <a:prstDash val="solid"/>
          </a:ln>
        </p:spPr>
        <p:txBody>
          <a:bodyPr/>
          <a:lstStyle/>
          <a:p>
            <a:endParaRPr lang="en-IN"/>
          </a:p>
        </p:txBody>
      </p:sp>
      <p:sp>
        <p:nvSpPr>
          <p:cNvPr id="19" name="Shape 17"/>
          <p:cNvSpPr/>
          <p:nvPr/>
        </p:nvSpPr>
        <p:spPr>
          <a:xfrm>
            <a:off x="7781544" y="2011680"/>
            <a:ext cx="457200" cy="457200"/>
          </a:xfrm>
          <a:prstGeom prst="ellipse">
            <a:avLst/>
          </a:prstGeom>
          <a:solidFill>
            <a:srgbClr val="00E0C6"/>
          </a:solidFill>
          <a:ln/>
        </p:spPr>
        <p:txBody>
          <a:bodyPr/>
          <a:lstStyle/>
          <a:p>
            <a:endParaRPr lang="en-IN"/>
          </a:p>
        </p:txBody>
      </p:sp>
      <p:sp>
        <p:nvSpPr>
          <p:cNvPr id="20" name="Text 18"/>
          <p:cNvSpPr/>
          <p:nvPr/>
        </p:nvSpPr>
        <p:spPr>
          <a:xfrm>
            <a:off x="7781544" y="2011680"/>
            <a:ext cx="457200" cy="457200"/>
          </a:xfrm>
          <a:prstGeom prst="rect">
            <a:avLst/>
          </a:prstGeom>
          <a:noFill/>
          <a:ln/>
        </p:spPr>
        <p:txBody>
          <a:bodyPr wrap="square" rtlCol="0" anchor="ctr"/>
          <a:lstStyle/>
          <a:p>
            <a:pPr marL="0" indent="0" algn="ctr">
              <a:buNone/>
            </a:pPr>
            <a:r>
              <a:rPr lang="en-US" sz="1000" b="1" dirty="0">
                <a:solidFill>
                  <a:srgbClr val="0A0E1A"/>
                </a:solidFill>
                <a:latin typeface="Calibri" pitchFamily="34" charset="0"/>
                <a:ea typeface="Calibri" pitchFamily="34" charset="-122"/>
                <a:cs typeface="Calibri" pitchFamily="34" charset="-120"/>
              </a:rPr>
              <a:t>B</a:t>
            </a:r>
            <a:endParaRPr lang="en-US" sz="1000" dirty="0"/>
          </a:p>
        </p:txBody>
      </p:sp>
      <p:sp>
        <p:nvSpPr>
          <p:cNvPr id="21" name="Text 19"/>
          <p:cNvSpPr/>
          <p:nvPr/>
        </p:nvSpPr>
        <p:spPr>
          <a:xfrm>
            <a:off x="8421624" y="1984248"/>
            <a:ext cx="22402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BYOD</a:t>
            </a:r>
            <a:endParaRPr lang="en-US" sz="1500" dirty="0"/>
          </a:p>
        </p:txBody>
      </p:sp>
      <p:sp>
        <p:nvSpPr>
          <p:cNvPr id="22" name="Text 20"/>
          <p:cNvSpPr/>
          <p:nvPr/>
        </p:nvSpPr>
        <p:spPr>
          <a:xfrm>
            <a:off x="7781544" y="2560320"/>
            <a:ext cx="2788920" cy="731520"/>
          </a:xfrm>
          <a:prstGeom prst="rect">
            <a:avLst/>
          </a:prstGeom>
          <a:noFill/>
          <a:ln/>
        </p:spPr>
        <p:txBody>
          <a:bodyPr wrap="square" rtlCol="0" anchor="t"/>
          <a:lstStyle/>
          <a:p>
            <a:pPr marL="0" indent="0">
              <a:buNone/>
            </a:pPr>
            <a:r>
              <a:rPr lang="en-US" sz="1150" dirty="0">
                <a:solidFill>
                  <a:srgbClr val="9FB0CE"/>
                </a:solidFill>
                <a:latin typeface="Calibri" pitchFamily="34" charset="0"/>
                <a:ea typeface="Calibri" pitchFamily="34" charset="-122"/>
                <a:cs typeface="Calibri" pitchFamily="34" charset="-120"/>
              </a:rPr>
              <a:t>Personal phones and laptops access company data</a:t>
            </a:r>
            <a:endParaRPr lang="en-US" sz="1150" dirty="0"/>
          </a:p>
        </p:txBody>
      </p:sp>
      <p:sp>
        <p:nvSpPr>
          <p:cNvPr id="23" name="Shape 21"/>
          <p:cNvSpPr/>
          <p:nvPr/>
        </p:nvSpPr>
        <p:spPr>
          <a:xfrm>
            <a:off x="548640" y="3639312"/>
            <a:ext cx="3246120" cy="1600200"/>
          </a:xfrm>
          <a:prstGeom prst="roundRect">
            <a:avLst>
              <a:gd name="adj" fmla="val 4571"/>
            </a:avLst>
          </a:prstGeom>
          <a:solidFill>
            <a:srgbClr val="121A2E"/>
          </a:solidFill>
          <a:ln w="12700">
            <a:solidFill>
              <a:srgbClr val="26314F"/>
            </a:solidFill>
            <a:prstDash val="solid"/>
          </a:ln>
        </p:spPr>
        <p:txBody>
          <a:bodyPr/>
          <a:lstStyle/>
          <a:p>
            <a:endParaRPr lang="en-IN"/>
          </a:p>
        </p:txBody>
      </p:sp>
      <p:sp>
        <p:nvSpPr>
          <p:cNvPr id="24" name="Shape 22"/>
          <p:cNvSpPr/>
          <p:nvPr/>
        </p:nvSpPr>
        <p:spPr>
          <a:xfrm>
            <a:off x="777240" y="3867912"/>
            <a:ext cx="457200" cy="457200"/>
          </a:xfrm>
          <a:prstGeom prst="ellipse">
            <a:avLst/>
          </a:prstGeom>
          <a:solidFill>
            <a:srgbClr val="00E0C6"/>
          </a:solidFill>
          <a:ln/>
        </p:spPr>
        <p:txBody>
          <a:bodyPr/>
          <a:lstStyle/>
          <a:p>
            <a:endParaRPr lang="en-IN"/>
          </a:p>
        </p:txBody>
      </p:sp>
      <p:sp>
        <p:nvSpPr>
          <p:cNvPr id="25" name="Text 23"/>
          <p:cNvSpPr/>
          <p:nvPr/>
        </p:nvSpPr>
        <p:spPr>
          <a:xfrm>
            <a:off x="777240" y="3867912"/>
            <a:ext cx="457200" cy="457200"/>
          </a:xfrm>
          <a:prstGeom prst="rect">
            <a:avLst/>
          </a:prstGeom>
          <a:noFill/>
          <a:ln/>
        </p:spPr>
        <p:txBody>
          <a:bodyPr wrap="square" rtlCol="0" anchor="ctr"/>
          <a:lstStyle/>
          <a:p>
            <a:pPr marL="0" indent="0" algn="ctr">
              <a:buNone/>
            </a:pPr>
            <a:r>
              <a:rPr lang="en-US" sz="1000" b="1" dirty="0">
                <a:solidFill>
                  <a:srgbClr val="0A0E1A"/>
                </a:solidFill>
                <a:latin typeface="Calibri" pitchFamily="34" charset="0"/>
                <a:ea typeface="Calibri" pitchFamily="34" charset="-122"/>
                <a:cs typeface="Calibri" pitchFamily="34" charset="-120"/>
              </a:rPr>
              <a:t>M</a:t>
            </a:r>
            <a:endParaRPr lang="en-US" sz="1000" dirty="0"/>
          </a:p>
        </p:txBody>
      </p:sp>
      <p:sp>
        <p:nvSpPr>
          <p:cNvPr id="26" name="Text 24"/>
          <p:cNvSpPr/>
          <p:nvPr/>
        </p:nvSpPr>
        <p:spPr>
          <a:xfrm>
            <a:off x="1417320" y="3840480"/>
            <a:ext cx="22402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Mobile</a:t>
            </a:r>
            <a:endParaRPr lang="en-US" sz="1500" dirty="0"/>
          </a:p>
        </p:txBody>
      </p:sp>
      <p:sp>
        <p:nvSpPr>
          <p:cNvPr id="27" name="Text 25"/>
          <p:cNvSpPr/>
          <p:nvPr/>
        </p:nvSpPr>
        <p:spPr>
          <a:xfrm>
            <a:off x="777240" y="4416552"/>
            <a:ext cx="2788920" cy="731520"/>
          </a:xfrm>
          <a:prstGeom prst="rect">
            <a:avLst/>
          </a:prstGeom>
          <a:noFill/>
          <a:ln/>
        </p:spPr>
        <p:txBody>
          <a:bodyPr wrap="square" rtlCol="0" anchor="t"/>
          <a:lstStyle/>
          <a:p>
            <a:pPr marL="0" indent="0">
              <a:buNone/>
            </a:pPr>
            <a:r>
              <a:rPr lang="en-US" sz="1150" dirty="0">
                <a:solidFill>
                  <a:srgbClr val="9FB0CE"/>
                </a:solidFill>
                <a:latin typeface="Calibri" pitchFamily="34" charset="0"/>
                <a:ea typeface="Calibri" pitchFamily="34" charset="-122"/>
                <a:cs typeface="Calibri" pitchFamily="34" charset="-120"/>
              </a:rPr>
              <a:t>Access happens anywhere, anytime, any device</a:t>
            </a:r>
            <a:endParaRPr lang="en-US" sz="1150" dirty="0"/>
          </a:p>
        </p:txBody>
      </p:sp>
      <p:sp>
        <p:nvSpPr>
          <p:cNvPr id="28" name="Shape 26"/>
          <p:cNvSpPr/>
          <p:nvPr/>
        </p:nvSpPr>
        <p:spPr>
          <a:xfrm>
            <a:off x="4050792" y="3639312"/>
            <a:ext cx="3246120" cy="1600200"/>
          </a:xfrm>
          <a:prstGeom prst="roundRect">
            <a:avLst>
              <a:gd name="adj" fmla="val 4571"/>
            </a:avLst>
          </a:prstGeom>
          <a:solidFill>
            <a:srgbClr val="121A2E"/>
          </a:solidFill>
          <a:ln w="12700">
            <a:solidFill>
              <a:srgbClr val="26314F"/>
            </a:solidFill>
            <a:prstDash val="solid"/>
          </a:ln>
        </p:spPr>
        <p:txBody>
          <a:bodyPr/>
          <a:lstStyle/>
          <a:p>
            <a:endParaRPr lang="en-IN"/>
          </a:p>
        </p:txBody>
      </p:sp>
      <p:sp>
        <p:nvSpPr>
          <p:cNvPr id="29" name="Shape 27"/>
          <p:cNvSpPr/>
          <p:nvPr/>
        </p:nvSpPr>
        <p:spPr>
          <a:xfrm>
            <a:off x="4279392" y="3867912"/>
            <a:ext cx="457200" cy="457200"/>
          </a:xfrm>
          <a:prstGeom prst="ellipse">
            <a:avLst/>
          </a:prstGeom>
          <a:solidFill>
            <a:srgbClr val="00E0C6"/>
          </a:solidFill>
          <a:ln/>
        </p:spPr>
        <p:txBody>
          <a:bodyPr/>
          <a:lstStyle/>
          <a:p>
            <a:endParaRPr lang="en-IN"/>
          </a:p>
        </p:txBody>
      </p:sp>
      <p:sp>
        <p:nvSpPr>
          <p:cNvPr id="30" name="Text 28"/>
          <p:cNvSpPr/>
          <p:nvPr/>
        </p:nvSpPr>
        <p:spPr>
          <a:xfrm>
            <a:off x="4279392" y="3867912"/>
            <a:ext cx="457200" cy="457200"/>
          </a:xfrm>
          <a:prstGeom prst="rect">
            <a:avLst/>
          </a:prstGeom>
          <a:noFill/>
          <a:ln/>
        </p:spPr>
        <p:txBody>
          <a:bodyPr wrap="square" rtlCol="0" anchor="ctr"/>
          <a:lstStyle/>
          <a:p>
            <a:pPr marL="0" indent="0" algn="ctr">
              <a:buNone/>
            </a:pPr>
            <a:r>
              <a:rPr lang="en-US" sz="1000" b="1" dirty="0">
                <a:solidFill>
                  <a:srgbClr val="0A0E1A"/>
                </a:solidFill>
                <a:latin typeface="Calibri" pitchFamily="34" charset="0"/>
                <a:ea typeface="Calibri" pitchFamily="34" charset="-122"/>
                <a:cs typeface="Calibri" pitchFamily="34" charset="-120"/>
              </a:rPr>
              <a:t>I</a:t>
            </a:r>
            <a:endParaRPr lang="en-US" sz="1000" dirty="0"/>
          </a:p>
        </p:txBody>
      </p:sp>
      <p:sp>
        <p:nvSpPr>
          <p:cNvPr id="31" name="Text 29"/>
          <p:cNvSpPr/>
          <p:nvPr/>
        </p:nvSpPr>
        <p:spPr>
          <a:xfrm>
            <a:off x="4919472" y="3840480"/>
            <a:ext cx="22402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Insider Risk</a:t>
            </a:r>
            <a:endParaRPr lang="en-US" sz="1500" dirty="0"/>
          </a:p>
        </p:txBody>
      </p:sp>
      <p:sp>
        <p:nvSpPr>
          <p:cNvPr id="32" name="Text 30"/>
          <p:cNvSpPr/>
          <p:nvPr/>
        </p:nvSpPr>
        <p:spPr>
          <a:xfrm>
            <a:off x="4279392" y="4416552"/>
            <a:ext cx="2788920" cy="731520"/>
          </a:xfrm>
          <a:prstGeom prst="rect">
            <a:avLst/>
          </a:prstGeom>
          <a:noFill/>
          <a:ln/>
        </p:spPr>
        <p:txBody>
          <a:bodyPr wrap="square" rtlCol="0" anchor="t"/>
          <a:lstStyle/>
          <a:p>
            <a:pPr marL="0" indent="0">
              <a:buNone/>
            </a:pPr>
            <a:r>
              <a:rPr lang="en-US" sz="1150" dirty="0">
                <a:solidFill>
                  <a:srgbClr val="9FB0CE"/>
                </a:solidFill>
                <a:latin typeface="Calibri" pitchFamily="34" charset="0"/>
                <a:ea typeface="Calibri" pitchFamily="34" charset="-122"/>
                <a:cs typeface="Calibri" pitchFamily="34" charset="-120"/>
              </a:rPr>
              <a:t>Threats can come from trusted accounts too</a:t>
            </a:r>
            <a:endParaRPr lang="en-US" sz="1150" dirty="0"/>
          </a:p>
        </p:txBody>
      </p:sp>
      <p:sp>
        <p:nvSpPr>
          <p:cNvPr id="33" name="Shape 31"/>
          <p:cNvSpPr/>
          <p:nvPr/>
        </p:nvSpPr>
        <p:spPr>
          <a:xfrm>
            <a:off x="7552944" y="3639312"/>
            <a:ext cx="3246120" cy="1600200"/>
          </a:xfrm>
          <a:prstGeom prst="roundRect">
            <a:avLst>
              <a:gd name="adj" fmla="val 4571"/>
            </a:avLst>
          </a:prstGeom>
          <a:solidFill>
            <a:srgbClr val="121A2E"/>
          </a:solidFill>
          <a:ln w="12700">
            <a:solidFill>
              <a:srgbClr val="26314F"/>
            </a:solidFill>
            <a:prstDash val="solid"/>
          </a:ln>
        </p:spPr>
        <p:txBody>
          <a:bodyPr/>
          <a:lstStyle/>
          <a:p>
            <a:endParaRPr lang="en-IN"/>
          </a:p>
        </p:txBody>
      </p:sp>
      <p:sp>
        <p:nvSpPr>
          <p:cNvPr id="34" name="Shape 32"/>
          <p:cNvSpPr/>
          <p:nvPr/>
        </p:nvSpPr>
        <p:spPr>
          <a:xfrm>
            <a:off x="7781544" y="3867912"/>
            <a:ext cx="457200" cy="457200"/>
          </a:xfrm>
          <a:prstGeom prst="ellipse">
            <a:avLst/>
          </a:prstGeom>
          <a:solidFill>
            <a:srgbClr val="00E0C6"/>
          </a:solidFill>
          <a:ln/>
        </p:spPr>
        <p:txBody>
          <a:bodyPr/>
          <a:lstStyle/>
          <a:p>
            <a:endParaRPr lang="en-IN"/>
          </a:p>
        </p:txBody>
      </p:sp>
      <p:sp>
        <p:nvSpPr>
          <p:cNvPr id="35" name="Text 33"/>
          <p:cNvSpPr/>
          <p:nvPr/>
        </p:nvSpPr>
        <p:spPr>
          <a:xfrm>
            <a:off x="7781544" y="3867912"/>
            <a:ext cx="457200" cy="457200"/>
          </a:xfrm>
          <a:prstGeom prst="rect">
            <a:avLst/>
          </a:prstGeom>
          <a:noFill/>
          <a:ln/>
        </p:spPr>
        <p:txBody>
          <a:bodyPr wrap="square" rtlCol="0" anchor="ctr"/>
          <a:lstStyle/>
          <a:p>
            <a:pPr marL="0" indent="0" algn="ctr">
              <a:buNone/>
            </a:pPr>
            <a:r>
              <a:rPr lang="en-US" sz="1000" b="1" dirty="0">
                <a:solidFill>
                  <a:srgbClr val="0A0E1A"/>
                </a:solidFill>
                <a:latin typeface="Calibri" pitchFamily="34" charset="0"/>
                <a:ea typeface="Calibri" pitchFamily="34" charset="-122"/>
                <a:cs typeface="Calibri" pitchFamily="34" charset="-120"/>
              </a:rPr>
              <a:t>S</a:t>
            </a:r>
            <a:endParaRPr lang="en-US" sz="1000" dirty="0"/>
          </a:p>
        </p:txBody>
      </p:sp>
      <p:sp>
        <p:nvSpPr>
          <p:cNvPr id="36" name="Text 34"/>
          <p:cNvSpPr/>
          <p:nvPr/>
        </p:nvSpPr>
        <p:spPr>
          <a:xfrm>
            <a:off x="8421624" y="3840480"/>
            <a:ext cx="22402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Stolen Creds</a:t>
            </a:r>
            <a:endParaRPr lang="en-US" sz="1500" dirty="0"/>
          </a:p>
        </p:txBody>
      </p:sp>
      <p:sp>
        <p:nvSpPr>
          <p:cNvPr id="37" name="Text 35"/>
          <p:cNvSpPr/>
          <p:nvPr/>
        </p:nvSpPr>
        <p:spPr>
          <a:xfrm>
            <a:off x="7781544" y="4416552"/>
            <a:ext cx="2788920" cy="731520"/>
          </a:xfrm>
          <a:prstGeom prst="rect">
            <a:avLst/>
          </a:prstGeom>
          <a:noFill/>
          <a:ln/>
        </p:spPr>
        <p:txBody>
          <a:bodyPr wrap="square" rtlCol="0" anchor="t"/>
          <a:lstStyle/>
          <a:p>
            <a:pPr marL="0" indent="0">
              <a:buNone/>
            </a:pPr>
            <a:r>
              <a:rPr lang="en-US" sz="1150" dirty="0">
                <a:solidFill>
                  <a:srgbClr val="9FB0CE"/>
                </a:solidFill>
                <a:latin typeface="Calibri" pitchFamily="34" charset="0"/>
                <a:ea typeface="Calibri" pitchFamily="34" charset="-122"/>
                <a:cs typeface="Calibri" pitchFamily="34" charset="-120"/>
              </a:rPr>
              <a:t>Passwords are phished, leaked, and reused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Traditional Security vs. Zero Trust</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04 / 25</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950208"/>
        </p:xfrm>
        <a:graphic>
          <a:graphicData uri="http://schemas.openxmlformats.org/drawingml/2006/table">
            <a:tbl>
              <a:tblPr/>
              <a:tblGrid>
                <a:gridCol w="2377440">
                  <a:extLst>
                    <a:ext uri="{9D8B030D-6E8A-4147-A177-3AD203B41FA5}">
                      <a16:colId xmlns:a16="http://schemas.microsoft.com/office/drawing/2014/main" val="20000"/>
                    </a:ext>
                  </a:extLst>
                </a:gridCol>
                <a:gridCol w="4352544">
                  <a:extLst>
                    <a:ext uri="{9D8B030D-6E8A-4147-A177-3AD203B41FA5}">
                      <a16:colId xmlns:a16="http://schemas.microsoft.com/office/drawing/2014/main" val="20001"/>
                    </a:ext>
                  </a:extLst>
                </a:gridCol>
                <a:gridCol w="4361688">
                  <a:extLst>
                    <a:ext uri="{9D8B030D-6E8A-4147-A177-3AD203B41FA5}">
                      <a16:colId xmlns:a16="http://schemas.microsoft.com/office/drawing/2014/main" val="20002"/>
                    </a:ext>
                  </a:extLst>
                </a:gridCol>
              </a:tblGrid>
              <a:tr h="658368">
                <a:tc>
                  <a:txBody>
                    <a:bodyPr/>
                    <a:lstStyle/>
                    <a:p>
                      <a:pPr marL="0" indent="0">
                        <a:buNone/>
                      </a:pPr>
                      <a:endParaRPr lang="en-US" sz="1200" dirty="0"/>
                    </a:p>
                  </a:txBody>
                  <a:tcP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A0E1A"/>
                    </a:solidFill>
                  </a:tcPr>
                </a:tc>
                <a:tc>
                  <a:txBody>
                    <a:bodyPr/>
                    <a:lstStyle/>
                    <a:p>
                      <a:pPr marL="0" indent="0" algn="ctr">
                        <a:buNone/>
                      </a:pPr>
                      <a:r>
                        <a:rPr lang="en-US" sz="1300" b="1" dirty="0">
                          <a:solidFill>
                            <a:srgbClr val="0A0E1A"/>
                          </a:solidFill>
                          <a:latin typeface="Calibri" pitchFamily="34" charset="0"/>
                          <a:ea typeface="Calibri" pitchFamily="34" charset="-122"/>
                          <a:cs typeface="Calibri" pitchFamily="34" charset="-120"/>
                        </a:rPr>
                        <a:t>TRADITIONAL PERIMETER</a:t>
                      </a:r>
                      <a:endParaRPr lang="en-US" sz="130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0E0C6"/>
                    </a:solidFill>
                  </a:tcPr>
                </a:tc>
                <a:tc>
                  <a:txBody>
                    <a:bodyPr/>
                    <a:lstStyle/>
                    <a:p>
                      <a:pPr marL="0" indent="0" algn="ctr">
                        <a:buNone/>
                      </a:pPr>
                      <a:r>
                        <a:rPr lang="en-US" sz="1300" b="1" dirty="0">
                          <a:solidFill>
                            <a:srgbClr val="0A0E1A"/>
                          </a:solidFill>
                          <a:latin typeface="Calibri" pitchFamily="34" charset="0"/>
                          <a:ea typeface="Calibri" pitchFamily="34" charset="-122"/>
                          <a:cs typeface="Calibri" pitchFamily="34" charset="-120"/>
                        </a:rPr>
                        <a:t>ZERO TRUST</a:t>
                      </a:r>
                      <a:endParaRPr lang="en-US" sz="130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0E0C6"/>
                    </a:solidFill>
                  </a:tcPr>
                </a:tc>
                <a:extLst>
                  <a:ext uri="{0D108BD9-81ED-4DB2-BD59-A6C34878D82A}">
                    <a16:rowId xmlns:a16="http://schemas.microsoft.com/office/drawing/2014/main" val="10000"/>
                  </a:ext>
                </a:extLst>
              </a:tr>
              <a:tr h="658368">
                <a:tc>
                  <a:txBody>
                    <a:bodyPr/>
                    <a:lstStyle/>
                    <a:p>
                      <a:pPr marL="0" indent="0" algn="l">
                        <a:buNone/>
                      </a:pPr>
                      <a:r>
                        <a:rPr lang="en-US" sz="1250" dirty="0">
                          <a:solidFill>
                            <a:srgbClr val="9FB0CE"/>
                          </a:solidFill>
                          <a:latin typeface="Calibri" pitchFamily="34" charset="0"/>
                          <a:ea typeface="Calibri" pitchFamily="34" charset="-122"/>
                          <a:cs typeface="Calibri" pitchFamily="34" charset="-120"/>
                        </a:rPr>
                        <a:t>Trust model</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21A2E"/>
                    </a:solidFill>
                  </a:tcPr>
                </a:tc>
                <a:tc>
                  <a:txBody>
                    <a:bodyPr/>
                    <a:lstStyle/>
                    <a:p>
                      <a:pPr marL="0" indent="0" algn="l">
                        <a:buNone/>
                      </a:pPr>
                      <a:r>
                        <a:rPr lang="en-US" sz="1250" dirty="0">
                          <a:solidFill>
                            <a:srgbClr val="FFC9CE"/>
                          </a:solidFill>
                          <a:latin typeface="Calibri" pitchFamily="34" charset="0"/>
                          <a:ea typeface="Calibri" pitchFamily="34" charset="-122"/>
                          <a:cs typeface="Calibri" pitchFamily="34" charset="-120"/>
                        </a:rPr>
                        <a:t>Trust inside the network</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241322"/>
                    </a:solidFill>
                  </a:tcPr>
                </a:tc>
                <a:tc>
                  <a:txBody>
                    <a:bodyPr/>
                    <a:lstStyle/>
                    <a:p>
                      <a:pPr marL="0" indent="0" algn="l">
                        <a:buNone/>
                      </a:pPr>
                      <a:r>
                        <a:rPr lang="en-US" sz="1250" dirty="0">
                          <a:solidFill>
                            <a:srgbClr val="C9FFEF"/>
                          </a:solidFill>
                          <a:latin typeface="Calibri" pitchFamily="34" charset="0"/>
                          <a:ea typeface="Calibri" pitchFamily="34" charset="-122"/>
                          <a:cs typeface="Calibri" pitchFamily="34" charset="-120"/>
                        </a:rPr>
                        <a:t>Verify continuously, everywhere</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E2A26"/>
                    </a:solidFill>
                  </a:tcPr>
                </a:tc>
                <a:extLst>
                  <a:ext uri="{0D108BD9-81ED-4DB2-BD59-A6C34878D82A}">
                    <a16:rowId xmlns:a16="http://schemas.microsoft.com/office/drawing/2014/main" val="10001"/>
                  </a:ext>
                </a:extLst>
              </a:tr>
              <a:tr h="658368">
                <a:tc>
                  <a:txBody>
                    <a:bodyPr/>
                    <a:lstStyle/>
                    <a:p>
                      <a:pPr marL="0" indent="0" algn="l">
                        <a:buNone/>
                      </a:pPr>
                      <a:r>
                        <a:rPr lang="en-US" sz="1250" dirty="0">
                          <a:solidFill>
                            <a:srgbClr val="9FB0CE"/>
                          </a:solidFill>
                          <a:latin typeface="Calibri" pitchFamily="34" charset="0"/>
                          <a:ea typeface="Calibri" pitchFamily="34" charset="-122"/>
                          <a:cs typeface="Calibri" pitchFamily="34" charset="-120"/>
                        </a:rPr>
                        <a:t>Access basis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21A2E"/>
                    </a:solidFill>
                  </a:tcPr>
                </a:tc>
                <a:tc>
                  <a:txBody>
                    <a:bodyPr/>
                    <a:lstStyle/>
                    <a:p>
                      <a:pPr marL="0" indent="0" algn="l">
                        <a:buNone/>
                      </a:pPr>
                      <a:r>
                        <a:rPr lang="en-US" sz="1250" dirty="0">
                          <a:solidFill>
                            <a:srgbClr val="FFC9CE"/>
                          </a:solidFill>
                          <a:latin typeface="Calibri" pitchFamily="34" charset="0"/>
                          <a:ea typeface="Calibri" pitchFamily="34" charset="-122"/>
                          <a:cs typeface="Calibri" pitchFamily="34" charset="-120"/>
                        </a:rPr>
                        <a:t>Network location / perimeter</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241322"/>
                    </a:solidFill>
                  </a:tcPr>
                </a:tc>
                <a:tc>
                  <a:txBody>
                    <a:bodyPr/>
                    <a:lstStyle/>
                    <a:p>
                      <a:pPr marL="0" indent="0" algn="l">
                        <a:buNone/>
                      </a:pPr>
                      <a:r>
                        <a:rPr lang="en-US" sz="1250" dirty="0">
                          <a:solidFill>
                            <a:srgbClr val="C9FFEF"/>
                          </a:solidFill>
                          <a:latin typeface="Calibri" pitchFamily="34" charset="0"/>
                          <a:ea typeface="Calibri" pitchFamily="34" charset="-122"/>
                          <a:cs typeface="Calibri" pitchFamily="34" charset="-120"/>
                        </a:rPr>
                        <a:t>Identity-centric</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E2A26"/>
                    </a:solidFill>
                  </a:tcPr>
                </a:tc>
                <a:extLst>
                  <a:ext uri="{0D108BD9-81ED-4DB2-BD59-A6C34878D82A}">
                    <a16:rowId xmlns:a16="http://schemas.microsoft.com/office/drawing/2014/main" val="10002"/>
                  </a:ext>
                </a:extLst>
              </a:tr>
              <a:tr h="658368">
                <a:tc>
                  <a:txBody>
                    <a:bodyPr/>
                    <a:lstStyle/>
                    <a:p>
                      <a:pPr marL="0" indent="0" algn="l">
                        <a:buNone/>
                      </a:pPr>
                      <a:r>
                        <a:rPr lang="en-US" sz="1250" dirty="0">
                          <a:solidFill>
                            <a:srgbClr val="9FB0CE"/>
                          </a:solidFill>
                          <a:latin typeface="Calibri" pitchFamily="34" charset="0"/>
                          <a:ea typeface="Calibri" pitchFamily="34" charset="-122"/>
                          <a:cs typeface="Calibri" pitchFamily="34" charset="-120"/>
                        </a:rPr>
                        <a:t>Remote access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21A2E"/>
                    </a:solidFill>
                  </a:tcPr>
                </a:tc>
                <a:tc>
                  <a:txBody>
                    <a:bodyPr/>
                    <a:lstStyle/>
                    <a:p>
                      <a:pPr marL="0" indent="0" algn="l">
                        <a:buNone/>
                      </a:pPr>
                      <a:r>
                        <a:rPr lang="en-US" sz="1250" dirty="0">
                          <a:solidFill>
                            <a:srgbClr val="FFC9CE"/>
                          </a:solidFill>
                          <a:latin typeface="Calibri" pitchFamily="34" charset="0"/>
                          <a:ea typeface="Calibri" pitchFamily="34" charset="-122"/>
                          <a:cs typeface="Calibri" pitchFamily="34" charset="-120"/>
                        </a:rPr>
                        <a:t>VPN-based access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241322"/>
                    </a:solidFill>
                  </a:tcPr>
                </a:tc>
                <a:tc>
                  <a:txBody>
                    <a:bodyPr/>
                    <a:lstStyle/>
                    <a:p>
                      <a:pPr marL="0" indent="0" algn="l">
                        <a:buNone/>
                      </a:pPr>
                      <a:r>
                        <a:rPr lang="en-US" sz="1250" dirty="0">
                          <a:solidFill>
                            <a:srgbClr val="C9FFEF"/>
                          </a:solidFill>
                          <a:latin typeface="Calibri" pitchFamily="34" charset="0"/>
                          <a:ea typeface="Calibri" pitchFamily="34" charset="-122"/>
                          <a:cs typeface="Calibri" pitchFamily="34" charset="-120"/>
                        </a:rPr>
                        <a:t>Context-aware, per-request access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E2A26"/>
                    </a:solidFill>
                  </a:tcPr>
                </a:tc>
                <a:extLst>
                  <a:ext uri="{0D108BD9-81ED-4DB2-BD59-A6C34878D82A}">
                    <a16:rowId xmlns:a16="http://schemas.microsoft.com/office/drawing/2014/main" val="10003"/>
                  </a:ext>
                </a:extLst>
              </a:tr>
              <a:tr h="658368">
                <a:tc>
                  <a:txBody>
                    <a:bodyPr/>
                    <a:lstStyle/>
                    <a:p>
                      <a:pPr marL="0" indent="0" algn="l">
                        <a:buNone/>
                      </a:pPr>
                      <a:r>
                        <a:rPr lang="en-US" sz="1250" dirty="0">
                          <a:solidFill>
                            <a:srgbClr val="9FB0CE"/>
                          </a:solidFill>
                          <a:latin typeface="Calibri" pitchFamily="34" charset="0"/>
                          <a:ea typeface="Calibri" pitchFamily="34" charset="-122"/>
                          <a:cs typeface="Calibri" pitchFamily="34" charset="-120"/>
                        </a:rPr>
                        <a:t>Controls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21A2E"/>
                    </a:solidFill>
                  </a:tcPr>
                </a:tc>
                <a:tc>
                  <a:txBody>
                    <a:bodyPr/>
                    <a:lstStyle/>
                    <a:p>
                      <a:pPr marL="0" indent="0" algn="l">
                        <a:buNone/>
                      </a:pPr>
                      <a:r>
                        <a:rPr lang="en-US" sz="1250" dirty="0">
                          <a:solidFill>
                            <a:srgbClr val="FFC9CE"/>
                          </a:solidFill>
                          <a:latin typeface="Calibri" pitchFamily="34" charset="0"/>
                          <a:ea typeface="Calibri" pitchFamily="34" charset="-122"/>
                          <a:cs typeface="Calibri" pitchFamily="34" charset="-120"/>
                        </a:rPr>
                        <a:t>Static controls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241322"/>
                    </a:solidFill>
                  </a:tcPr>
                </a:tc>
                <a:tc>
                  <a:txBody>
                    <a:bodyPr/>
                    <a:lstStyle/>
                    <a:p>
                      <a:pPr marL="0" indent="0" algn="l">
                        <a:buNone/>
                      </a:pPr>
                      <a:r>
                        <a:rPr lang="en-US" sz="1250" dirty="0">
                          <a:solidFill>
                            <a:srgbClr val="C9FFEF"/>
                          </a:solidFill>
                          <a:latin typeface="Calibri" pitchFamily="34" charset="0"/>
                          <a:ea typeface="Calibri" pitchFamily="34" charset="-122"/>
                          <a:cs typeface="Calibri" pitchFamily="34" charset="-120"/>
                        </a:rPr>
                        <a:t>Dynamic, least-privilege controls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E2A26"/>
                    </a:solidFill>
                  </a:tcPr>
                </a:tc>
                <a:extLst>
                  <a:ext uri="{0D108BD9-81ED-4DB2-BD59-A6C34878D82A}">
                    <a16:rowId xmlns:a16="http://schemas.microsoft.com/office/drawing/2014/main" val="10004"/>
                  </a:ext>
                </a:extLst>
              </a:tr>
              <a:tr h="658368">
                <a:tc>
                  <a:txBody>
                    <a:bodyPr/>
                    <a:lstStyle/>
                    <a:p>
                      <a:pPr marL="0" indent="0" algn="l">
                        <a:buNone/>
                      </a:pPr>
                      <a:r>
                        <a:rPr lang="en-US" sz="1250" dirty="0">
                          <a:solidFill>
                            <a:srgbClr val="9FB0CE"/>
                          </a:solidFill>
                          <a:latin typeface="Calibri" pitchFamily="34" charset="0"/>
                          <a:ea typeface="Calibri" pitchFamily="34" charset="-122"/>
                          <a:cs typeface="Calibri" pitchFamily="34" charset="-120"/>
                        </a:rPr>
                        <a:t>After login</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21A2E"/>
                    </a:solidFill>
                  </a:tcPr>
                </a:tc>
                <a:tc>
                  <a:txBody>
                    <a:bodyPr/>
                    <a:lstStyle/>
                    <a:p>
                      <a:pPr marL="0" indent="0" algn="l">
                        <a:buNone/>
                      </a:pPr>
                      <a:r>
                        <a:rPr lang="en-US" sz="1250" dirty="0">
                          <a:solidFill>
                            <a:srgbClr val="FFC9CE"/>
                          </a:solidFill>
                          <a:latin typeface="Calibri" pitchFamily="34" charset="0"/>
                          <a:ea typeface="Calibri" pitchFamily="34" charset="-122"/>
                          <a:cs typeface="Calibri" pitchFamily="34" charset="-120"/>
                        </a:rPr>
                        <a:t>Broad access once authenticated</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241322"/>
                    </a:solidFill>
                  </a:tcPr>
                </a:tc>
                <a:tc>
                  <a:txBody>
                    <a:bodyPr/>
                    <a:lstStyle/>
                    <a:p>
                      <a:pPr marL="0" indent="0" algn="l">
                        <a:buNone/>
                      </a:pPr>
                      <a:r>
                        <a:rPr lang="en-US" sz="1250" dirty="0">
                          <a:solidFill>
                            <a:srgbClr val="C9FFEF"/>
                          </a:solidFill>
                          <a:latin typeface="Calibri" pitchFamily="34" charset="0"/>
                          <a:ea typeface="Calibri" pitchFamily="34" charset="-122"/>
                          <a:cs typeface="Calibri" pitchFamily="34" charset="-120"/>
                        </a:rPr>
                        <a:t>Continuous monitoring &amp; re-checks</a:t>
                      </a:r>
                      <a:endParaRPr lang="en-US" sz="1250" dirty="0">
                        <a:latin typeface="Calibri" charset="0"/>
                        <a:ea typeface="Calibri" charset="0"/>
                        <a:cs typeface="Calibri" charset="0"/>
                      </a:endParaRPr>
                    </a:p>
                  </a:txBody>
                  <a:tcPr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0E2A2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The Core Principle</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05 / 25</a:t>
            </a:r>
            <a:endParaRPr lang="en-US" sz="900" dirty="0"/>
          </a:p>
        </p:txBody>
      </p:sp>
      <p:sp>
        <p:nvSpPr>
          <p:cNvPr id="8" name="Text 6"/>
          <p:cNvSpPr/>
          <p:nvPr/>
        </p:nvSpPr>
        <p:spPr>
          <a:xfrm>
            <a:off x="548640" y="1691640"/>
            <a:ext cx="10972800" cy="548640"/>
          </a:xfrm>
          <a:prstGeom prst="rect">
            <a:avLst/>
          </a:prstGeom>
          <a:noFill/>
          <a:ln/>
        </p:spPr>
        <p:txBody>
          <a:bodyPr wrap="square" rtlCol="0" anchor="ctr"/>
          <a:lstStyle/>
          <a:p>
            <a:pPr marL="0" indent="0">
              <a:buNone/>
            </a:pPr>
            <a:r>
              <a:rPr lang="en-US" sz="2400" b="1" dirty="0">
                <a:solidFill>
                  <a:srgbClr val="00E0C6"/>
                </a:solidFill>
                <a:latin typeface="Cambria" pitchFamily="34" charset="0"/>
                <a:ea typeface="Cambria" pitchFamily="34" charset="-122"/>
                <a:cs typeface="Cambria" pitchFamily="34" charset="-120"/>
              </a:rPr>
              <a:t>“Never Trust, Always Verify”</a:t>
            </a:r>
            <a:endParaRPr lang="en-US" sz="2400" dirty="0"/>
          </a:p>
        </p:txBody>
      </p:sp>
      <p:sp>
        <p:nvSpPr>
          <p:cNvPr id="9" name="Text 7"/>
          <p:cNvSpPr/>
          <p:nvPr/>
        </p:nvSpPr>
        <p:spPr>
          <a:xfrm>
            <a:off x="548640" y="2331720"/>
            <a:ext cx="5212080" cy="4114800"/>
          </a:xfrm>
          <a:prstGeom prst="rect">
            <a:avLst/>
          </a:prstGeom>
          <a:noFill/>
          <a:ln/>
        </p:spPr>
        <p:txBody>
          <a:bodyPr wrap="square" rtlCol="0" anchor="t"/>
          <a:lstStyle/>
          <a:p>
            <a:pPr marL="228600" indent="-228600">
              <a:lnSpc>
                <a:spcPct val="115000"/>
              </a:lnSpc>
              <a:spcAft>
                <a:spcPts val="1300"/>
              </a:spcAft>
              <a:buSzPct val="100000"/>
              <a:buChar char="▪"/>
            </a:pPr>
            <a:r>
              <a:rPr lang="en-US" sz="1450" dirty="0">
                <a:solidFill>
                  <a:srgbClr val="9FB0CE"/>
                </a:solidFill>
                <a:latin typeface="Calibri" pitchFamily="34" charset="0"/>
                <a:ea typeface="Calibri" pitchFamily="34" charset="-122"/>
                <a:cs typeface="Calibri" pitchFamily="34" charset="-120"/>
              </a:rPr>
              <a:t>Every request is treated as potentially untrusted</a:t>
            </a:r>
            <a:endParaRPr lang="en-US" sz="1450" dirty="0"/>
          </a:p>
          <a:p>
            <a:pPr marL="228600" indent="-228600">
              <a:lnSpc>
                <a:spcPct val="115000"/>
              </a:lnSpc>
              <a:spcAft>
                <a:spcPts val="1300"/>
              </a:spcAft>
              <a:buSzPct val="100000"/>
              <a:buChar char="▪"/>
            </a:pPr>
            <a:r>
              <a:rPr lang="en-US" sz="1450" dirty="0">
                <a:solidFill>
                  <a:srgbClr val="9FB0CE"/>
                </a:solidFill>
                <a:latin typeface="Calibri" pitchFamily="34" charset="0"/>
                <a:ea typeface="Calibri" pitchFamily="34" charset="-122"/>
                <a:cs typeface="Calibri" pitchFamily="34" charset="-120"/>
              </a:rPr>
              <a:t>Authenticate — confirm who is asking</a:t>
            </a:r>
            <a:endParaRPr lang="en-US" sz="1450" dirty="0"/>
          </a:p>
          <a:p>
            <a:pPr marL="228600" indent="-228600">
              <a:lnSpc>
                <a:spcPct val="115000"/>
              </a:lnSpc>
              <a:spcAft>
                <a:spcPts val="1300"/>
              </a:spcAft>
              <a:buSzPct val="100000"/>
              <a:buChar char="▪"/>
            </a:pPr>
            <a:r>
              <a:rPr lang="en-US" sz="1450" dirty="0">
                <a:solidFill>
                  <a:srgbClr val="9FB0CE"/>
                </a:solidFill>
                <a:latin typeface="Calibri" pitchFamily="34" charset="0"/>
                <a:ea typeface="Calibri" pitchFamily="34" charset="-122"/>
                <a:cs typeface="Calibri" pitchFamily="34" charset="-120"/>
              </a:rPr>
              <a:t>Authorize — confirm what they may access</a:t>
            </a:r>
            <a:endParaRPr lang="en-US" sz="1450" dirty="0"/>
          </a:p>
          <a:p>
            <a:pPr marL="228600" indent="-228600">
              <a:lnSpc>
                <a:spcPct val="115000"/>
              </a:lnSpc>
              <a:spcAft>
                <a:spcPts val="1300"/>
              </a:spcAft>
              <a:buSzPct val="100000"/>
              <a:buChar char="▪"/>
            </a:pPr>
            <a:r>
              <a:rPr lang="en-US" sz="1450" dirty="0">
                <a:solidFill>
                  <a:srgbClr val="9FB0CE"/>
                </a:solidFill>
                <a:latin typeface="Calibri" pitchFamily="34" charset="0"/>
                <a:ea typeface="Calibri" pitchFamily="34" charset="-122"/>
                <a:cs typeface="Calibri" pitchFamily="34" charset="-120"/>
              </a:rPr>
              <a:t>Validate context — device, location, risk</a:t>
            </a:r>
            <a:endParaRPr lang="en-US" sz="1450" dirty="0"/>
          </a:p>
          <a:p>
            <a:pPr marL="228600" indent="-228600">
              <a:lnSpc>
                <a:spcPct val="115000"/>
              </a:lnSpc>
              <a:spcAft>
                <a:spcPts val="1300"/>
              </a:spcAft>
              <a:buSzPct val="100000"/>
              <a:buChar char="▪"/>
            </a:pPr>
            <a:r>
              <a:rPr lang="en-US" sz="1450" dirty="0">
                <a:solidFill>
                  <a:srgbClr val="9FB0CE"/>
                </a:solidFill>
                <a:latin typeface="Calibri" pitchFamily="34" charset="0"/>
                <a:ea typeface="Calibri" pitchFamily="34" charset="-122"/>
                <a:cs typeface="Calibri" pitchFamily="34" charset="-120"/>
              </a:rPr>
              <a:t>Monitor continuously — re-check throughout the session</a:t>
            </a:r>
            <a:endParaRPr lang="en-US" sz="1450" dirty="0"/>
          </a:p>
        </p:txBody>
      </p:sp>
      <p:sp>
        <p:nvSpPr>
          <p:cNvPr id="10" name="Shape 8"/>
          <p:cNvSpPr/>
          <p:nvPr/>
        </p:nvSpPr>
        <p:spPr>
          <a:xfrm>
            <a:off x="6492240" y="2743200"/>
            <a:ext cx="1463040" cy="1188720"/>
          </a:xfrm>
          <a:prstGeom prst="roundRect">
            <a:avLst>
              <a:gd name="adj" fmla="val 6154"/>
            </a:avLst>
          </a:prstGeom>
          <a:solidFill>
            <a:srgbClr val="182444"/>
          </a:solidFill>
          <a:ln w="12700">
            <a:solidFill>
              <a:srgbClr val="26314F"/>
            </a:solidFill>
            <a:prstDash val="solid"/>
          </a:ln>
        </p:spPr>
        <p:txBody>
          <a:bodyPr/>
          <a:lstStyle/>
          <a:p>
            <a:endParaRPr lang="en-IN"/>
          </a:p>
        </p:txBody>
      </p:sp>
      <p:sp>
        <p:nvSpPr>
          <p:cNvPr id="11" name="Text 9"/>
          <p:cNvSpPr/>
          <p:nvPr/>
        </p:nvSpPr>
        <p:spPr>
          <a:xfrm>
            <a:off x="6492240" y="2743200"/>
            <a:ext cx="1463040" cy="118872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Request</a:t>
            </a:r>
            <a:endParaRPr lang="en-US" sz="1400" dirty="0"/>
          </a:p>
        </p:txBody>
      </p:sp>
      <p:sp>
        <p:nvSpPr>
          <p:cNvPr id="12" name="Shape 10"/>
          <p:cNvSpPr/>
          <p:nvPr/>
        </p:nvSpPr>
        <p:spPr>
          <a:xfrm>
            <a:off x="8028432" y="3337560"/>
            <a:ext cx="356616" cy="0"/>
          </a:xfrm>
          <a:prstGeom prst="line">
            <a:avLst/>
          </a:prstGeom>
          <a:noFill/>
          <a:ln w="19050">
            <a:solidFill>
              <a:srgbClr val="00E0C6"/>
            </a:solidFill>
            <a:prstDash val="solid"/>
            <a:tailEnd type="triangle"/>
          </a:ln>
        </p:spPr>
        <p:txBody>
          <a:bodyPr/>
          <a:lstStyle/>
          <a:p>
            <a:endParaRPr lang="en-IN"/>
          </a:p>
        </p:txBody>
      </p:sp>
      <p:sp>
        <p:nvSpPr>
          <p:cNvPr id="13" name="Shape 11"/>
          <p:cNvSpPr/>
          <p:nvPr/>
        </p:nvSpPr>
        <p:spPr>
          <a:xfrm>
            <a:off x="8458200" y="2743200"/>
            <a:ext cx="1463040" cy="1188720"/>
          </a:xfrm>
          <a:prstGeom prst="roundRect">
            <a:avLst>
              <a:gd name="adj" fmla="val 6154"/>
            </a:avLst>
          </a:prstGeom>
          <a:solidFill>
            <a:srgbClr val="182444"/>
          </a:solidFill>
          <a:ln w="12700">
            <a:solidFill>
              <a:srgbClr val="26314F"/>
            </a:solidFill>
            <a:prstDash val="solid"/>
          </a:ln>
        </p:spPr>
        <p:txBody>
          <a:bodyPr/>
          <a:lstStyle/>
          <a:p>
            <a:endParaRPr lang="en-IN"/>
          </a:p>
        </p:txBody>
      </p:sp>
      <p:sp>
        <p:nvSpPr>
          <p:cNvPr id="14" name="Text 12"/>
          <p:cNvSpPr/>
          <p:nvPr/>
        </p:nvSpPr>
        <p:spPr>
          <a:xfrm>
            <a:off x="8458200" y="2743200"/>
            <a:ext cx="1463040" cy="118872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Verify</a:t>
            </a:r>
            <a:endParaRPr lang="en-US" sz="1400" dirty="0"/>
          </a:p>
        </p:txBody>
      </p:sp>
      <p:sp>
        <p:nvSpPr>
          <p:cNvPr id="15" name="Shape 13"/>
          <p:cNvSpPr/>
          <p:nvPr/>
        </p:nvSpPr>
        <p:spPr>
          <a:xfrm>
            <a:off x="9994392" y="3337560"/>
            <a:ext cx="356616" cy="0"/>
          </a:xfrm>
          <a:prstGeom prst="line">
            <a:avLst/>
          </a:prstGeom>
          <a:noFill/>
          <a:ln w="19050">
            <a:solidFill>
              <a:srgbClr val="00E0C6"/>
            </a:solidFill>
            <a:prstDash val="solid"/>
            <a:tailEnd type="triangle"/>
          </a:ln>
        </p:spPr>
        <p:txBody>
          <a:bodyPr/>
          <a:lstStyle/>
          <a:p>
            <a:endParaRPr lang="en-IN"/>
          </a:p>
        </p:txBody>
      </p:sp>
      <p:sp>
        <p:nvSpPr>
          <p:cNvPr id="16" name="Shape 14"/>
          <p:cNvSpPr/>
          <p:nvPr/>
        </p:nvSpPr>
        <p:spPr>
          <a:xfrm>
            <a:off x="10424160" y="2743200"/>
            <a:ext cx="1463040" cy="1188720"/>
          </a:xfrm>
          <a:prstGeom prst="roundRect">
            <a:avLst>
              <a:gd name="adj" fmla="val 6154"/>
            </a:avLst>
          </a:prstGeom>
          <a:solidFill>
            <a:srgbClr val="0E3A34"/>
          </a:solidFill>
          <a:ln w="12700">
            <a:solidFill>
              <a:srgbClr val="26314F"/>
            </a:solidFill>
            <a:prstDash val="solid"/>
          </a:ln>
        </p:spPr>
        <p:txBody>
          <a:bodyPr/>
          <a:lstStyle/>
          <a:p>
            <a:endParaRPr lang="en-IN"/>
          </a:p>
        </p:txBody>
      </p:sp>
      <p:sp>
        <p:nvSpPr>
          <p:cNvPr id="17" name="Text 15"/>
          <p:cNvSpPr/>
          <p:nvPr/>
        </p:nvSpPr>
        <p:spPr>
          <a:xfrm>
            <a:off x="10424160" y="2743200"/>
            <a:ext cx="1463040" cy="1188720"/>
          </a:xfrm>
          <a:prstGeom prst="rect">
            <a:avLst/>
          </a:prstGeom>
          <a:noFill/>
          <a:ln/>
        </p:spPr>
        <p:txBody>
          <a:bodyPr wrap="square" rtlCol="0" anchor="ctr"/>
          <a:lstStyle/>
          <a:p>
            <a:pPr marL="0" indent="0" algn="ctr">
              <a:buNone/>
            </a:pPr>
            <a:r>
              <a:rPr lang="en-US" sz="1400" b="1" dirty="0">
                <a:solidFill>
                  <a:srgbClr val="4ADE80"/>
                </a:solidFill>
                <a:latin typeface="Cambria" pitchFamily="34" charset="0"/>
                <a:ea typeface="Cambria" pitchFamily="34" charset="-122"/>
                <a:cs typeface="Cambria" pitchFamily="34" charset="-120"/>
              </a:rPr>
              <a:t>Access</a:t>
            </a:r>
            <a:endParaRPr lang="en-US" sz="1400" dirty="0"/>
          </a:p>
        </p:txBody>
      </p:sp>
      <p:sp>
        <p:nvSpPr>
          <p:cNvPr id="18" name="Text 16"/>
          <p:cNvSpPr/>
          <p:nvPr/>
        </p:nvSpPr>
        <p:spPr>
          <a:xfrm>
            <a:off x="6492240" y="4297680"/>
            <a:ext cx="5120640" cy="731520"/>
          </a:xfrm>
          <a:prstGeom prst="rect">
            <a:avLst/>
          </a:prstGeom>
          <a:noFill/>
          <a:ln/>
        </p:spPr>
        <p:txBody>
          <a:bodyPr wrap="square" rtlCol="0" anchor="ctr"/>
          <a:lstStyle/>
          <a:p>
            <a:pPr marL="0" indent="0">
              <a:buNone/>
            </a:pPr>
            <a:r>
              <a:rPr lang="en-US" sz="1200" i="1" dirty="0">
                <a:solidFill>
                  <a:srgbClr val="9FB0CE"/>
                </a:solidFill>
                <a:latin typeface="Calibri" pitchFamily="34" charset="0"/>
                <a:ea typeface="Calibri" pitchFamily="34" charset="-122"/>
                <a:cs typeface="Calibri" pitchFamily="34" charset="-120"/>
              </a:rPr>
              <a:t>A request only becomes access after passing every check.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PRINCIPLES</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Three Core Principles of Zero Trust</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06 / 25</a:t>
            </a:r>
            <a:endParaRPr lang="en-US" sz="900" dirty="0"/>
          </a:p>
        </p:txBody>
      </p:sp>
      <p:sp>
        <p:nvSpPr>
          <p:cNvPr id="8" name="Shape 6"/>
          <p:cNvSpPr/>
          <p:nvPr/>
        </p:nvSpPr>
        <p:spPr>
          <a:xfrm>
            <a:off x="548640" y="1737360"/>
            <a:ext cx="3566160" cy="4114800"/>
          </a:xfrm>
          <a:prstGeom prst="roundRect">
            <a:avLst>
              <a:gd name="adj" fmla="val 2051"/>
            </a:avLst>
          </a:prstGeom>
          <a:solidFill>
            <a:srgbClr val="121A2E"/>
          </a:solidFill>
          <a:ln w="12700">
            <a:solidFill>
              <a:srgbClr val="26314F"/>
            </a:solidFill>
            <a:prstDash val="solid"/>
          </a:ln>
        </p:spPr>
        <p:txBody>
          <a:bodyPr/>
          <a:lstStyle/>
          <a:p>
            <a:endParaRPr lang="en-IN"/>
          </a:p>
        </p:txBody>
      </p:sp>
      <p:sp>
        <p:nvSpPr>
          <p:cNvPr id="9" name="Shape 7"/>
          <p:cNvSpPr/>
          <p:nvPr/>
        </p:nvSpPr>
        <p:spPr>
          <a:xfrm>
            <a:off x="822960" y="2011680"/>
            <a:ext cx="548640" cy="548640"/>
          </a:xfrm>
          <a:prstGeom prst="ellipse">
            <a:avLst/>
          </a:prstGeom>
          <a:solidFill>
            <a:srgbClr val="00E0C6"/>
          </a:solidFill>
          <a:ln/>
        </p:spPr>
        <p:txBody>
          <a:bodyPr/>
          <a:lstStyle/>
          <a:p>
            <a:endParaRPr lang="en-IN"/>
          </a:p>
        </p:txBody>
      </p:sp>
      <p:sp>
        <p:nvSpPr>
          <p:cNvPr id="10" name="Text 8"/>
          <p:cNvSpPr/>
          <p:nvPr/>
        </p:nvSpPr>
        <p:spPr>
          <a:xfrm>
            <a:off x="822960" y="2011680"/>
            <a:ext cx="548640" cy="54864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22960" y="2743200"/>
            <a:ext cx="3017520" cy="6400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Verify Explicitly</a:t>
            </a:r>
            <a:endParaRPr lang="en-US" sz="1600" dirty="0"/>
          </a:p>
        </p:txBody>
      </p:sp>
      <p:sp>
        <p:nvSpPr>
          <p:cNvPr id="12" name="Text 10"/>
          <p:cNvSpPr/>
          <p:nvPr/>
        </p:nvSpPr>
        <p:spPr>
          <a:xfrm>
            <a:off x="822960" y="3429000"/>
            <a:ext cx="3017520" cy="1371600"/>
          </a:xfrm>
          <a:prstGeom prst="rect">
            <a:avLst/>
          </a:prstGeom>
          <a:noFill/>
          <a:ln/>
        </p:spPr>
        <p:txBody>
          <a:bodyPr wrap="square" rtlCol="0" anchor="t"/>
          <a:lstStyle/>
          <a:p>
            <a:pPr marL="0" indent="0">
              <a:buNone/>
            </a:pPr>
            <a:r>
              <a:rPr lang="en-US" sz="1200" dirty="0">
                <a:solidFill>
                  <a:srgbClr val="9FB0CE"/>
                </a:solidFill>
                <a:latin typeface="Calibri" pitchFamily="34" charset="0"/>
                <a:ea typeface="Calibri" pitchFamily="34" charset="-122"/>
                <a:cs typeface="Calibri" pitchFamily="34" charset="-120"/>
              </a:rPr>
              <a:t>Always authenticate and authorize using every available data point — identity, device, location, and behavior.</a:t>
            </a:r>
            <a:endParaRPr lang="en-US" sz="1200" dirty="0"/>
          </a:p>
        </p:txBody>
      </p:sp>
      <p:sp>
        <p:nvSpPr>
          <p:cNvPr id="13" name="Shape 11"/>
          <p:cNvSpPr/>
          <p:nvPr/>
        </p:nvSpPr>
        <p:spPr>
          <a:xfrm>
            <a:off x="822960" y="4892040"/>
            <a:ext cx="3017520" cy="0"/>
          </a:xfrm>
          <a:prstGeom prst="line">
            <a:avLst/>
          </a:prstGeom>
          <a:noFill/>
          <a:ln w="9525">
            <a:solidFill>
              <a:srgbClr val="26314F"/>
            </a:solidFill>
            <a:prstDash val="solid"/>
          </a:ln>
        </p:spPr>
        <p:txBody>
          <a:bodyPr/>
          <a:lstStyle/>
          <a:p>
            <a:endParaRPr lang="en-IN"/>
          </a:p>
        </p:txBody>
      </p:sp>
      <p:sp>
        <p:nvSpPr>
          <p:cNvPr id="14" name="Text 12"/>
          <p:cNvSpPr/>
          <p:nvPr/>
        </p:nvSpPr>
        <p:spPr>
          <a:xfrm>
            <a:off x="822960" y="4983480"/>
            <a:ext cx="3017520" cy="228600"/>
          </a:xfrm>
          <a:prstGeom prst="rect">
            <a:avLst/>
          </a:prstGeom>
          <a:noFill/>
          <a:ln/>
        </p:spPr>
        <p:txBody>
          <a:bodyPr wrap="square" rtlCol="0" anchor="ctr"/>
          <a:lstStyle/>
          <a:p>
            <a:pPr marL="0" indent="0">
              <a:buNone/>
            </a:pPr>
            <a:r>
              <a:rPr lang="en-US" sz="900" b="1" kern="0" spc="100" dirty="0">
                <a:solidFill>
                  <a:srgbClr val="00E0C6"/>
                </a:solidFill>
                <a:latin typeface="Calibri" pitchFamily="34" charset="0"/>
                <a:ea typeface="Calibri" pitchFamily="34" charset="-122"/>
                <a:cs typeface="Calibri" pitchFamily="34" charset="-120"/>
              </a:rPr>
              <a:t>EXAMPLE</a:t>
            </a:r>
            <a:endParaRPr lang="en-US" sz="900" dirty="0"/>
          </a:p>
        </p:txBody>
      </p:sp>
      <p:sp>
        <p:nvSpPr>
          <p:cNvPr id="15" name="Text 13"/>
          <p:cNvSpPr/>
          <p:nvPr/>
        </p:nvSpPr>
        <p:spPr>
          <a:xfrm>
            <a:off x="822960" y="5193792"/>
            <a:ext cx="3017520" cy="594360"/>
          </a:xfrm>
          <a:prstGeom prst="rect">
            <a:avLst/>
          </a:prstGeom>
          <a:noFill/>
          <a:ln/>
        </p:spPr>
        <p:txBody>
          <a:bodyPr wrap="square" rtlCol="0" anchor="t"/>
          <a:lstStyle/>
          <a:p>
            <a:pPr marL="0" indent="0">
              <a:buNone/>
            </a:pPr>
            <a:r>
              <a:rPr lang="en-US" sz="1100" i="1" dirty="0">
                <a:solidFill>
                  <a:srgbClr val="9FB0CE"/>
                </a:solidFill>
                <a:latin typeface="Calibri" pitchFamily="34" charset="0"/>
                <a:ea typeface="Calibri" pitchFamily="34" charset="-122"/>
                <a:cs typeface="Calibri" pitchFamily="34" charset="-120"/>
              </a:rPr>
              <a:t>Login requires MFA plus a device-health check, not just a password.</a:t>
            </a:r>
            <a:endParaRPr lang="en-US" sz="1100" dirty="0"/>
          </a:p>
        </p:txBody>
      </p:sp>
      <p:sp>
        <p:nvSpPr>
          <p:cNvPr id="16" name="Shape 14"/>
          <p:cNvSpPr/>
          <p:nvPr/>
        </p:nvSpPr>
        <p:spPr>
          <a:xfrm>
            <a:off x="4352544" y="1737360"/>
            <a:ext cx="3566160" cy="4114800"/>
          </a:xfrm>
          <a:prstGeom prst="roundRect">
            <a:avLst>
              <a:gd name="adj" fmla="val 2051"/>
            </a:avLst>
          </a:prstGeom>
          <a:solidFill>
            <a:srgbClr val="121A2E"/>
          </a:solidFill>
          <a:ln w="12700">
            <a:solidFill>
              <a:srgbClr val="26314F"/>
            </a:solidFill>
            <a:prstDash val="solid"/>
          </a:ln>
        </p:spPr>
        <p:txBody>
          <a:bodyPr/>
          <a:lstStyle/>
          <a:p>
            <a:endParaRPr lang="en-IN"/>
          </a:p>
        </p:txBody>
      </p:sp>
      <p:sp>
        <p:nvSpPr>
          <p:cNvPr id="17" name="Shape 15"/>
          <p:cNvSpPr/>
          <p:nvPr/>
        </p:nvSpPr>
        <p:spPr>
          <a:xfrm>
            <a:off x="4626864" y="2011680"/>
            <a:ext cx="548640" cy="548640"/>
          </a:xfrm>
          <a:prstGeom prst="ellipse">
            <a:avLst/>
          </a:prstGeom>
          <a:solidFill>
            <a:srgbClr val="00E0C6"/>
          </a:solidFill>
          <a:ln/>
        </p:spPr>
        <p:txBody>
          <a:bodyPr/>
          <a:lstStyle/>
          <a:p>
            <a:endParaRPr lang="en-IN"/>
          </a:p>
        </p:txBody>
      </p:sp>
      <p:sp>
        <p:nvSpPr>
          <p:cNvPr id="18" name="Text 16"/>
          <p:cNvSpPr/>
          <p:nvPr/>
        </p:nvSpPr>
        <p:spPr>
          <a:xfrm>
            <a:off x="4626864" y="2011680"/>
            <a:ext cx="548640" cy="54864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4626864" y="2743200"/>
            <a:ext cx="3017520" cy="6400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Least Privilege Access</a:t>
            </a:r>
            <a:endParaRPr lang="en-US" sz="1600" dirty="0"/>
          </a:p>
        </p:txBody>
      </p:sp>
      <p:sp>
        <p:nvSpPr>
          <p:cNvPr id="20" name="Text 18"/>
          <p:cNvSpPr/>
          <p:nvPr/>
        </p:nvSpPr>
        <p:spPr>
          <a:xfrm>
            <a:off x="4626864" y="3429000"/>
            <a:ext cx="3017520" cy="1371600"/>
          </a:xfrm>
          <a:prstGeom prst="rect">
            <a:avLst/>
          </a:prstGeom>
          <a:noFill/>
          <a:ln/>
        </p:spPr>
        <p:txBody>
          <a:bodyPr wrap="square" rtlCol="0" anchor="t"/>
          <a:lstStyle/>
          <a:p>
            <a:pPr marL="0" indent="0">
              <a:buNone/>
            </a:pPr>
            <a:r>
              <a:rPr lang="en-US" sz="1200" dirty="0">
                <a:solidFill>
                  <a:srgbClr val="9FB0CE"/>
                </a:solidFill>
                <a:latin typeface="Calibri" pitchFamily="34" charset="0"/>
                <a:ea typeface="Calibri" pitchFamily="34" charset="-122"/>
                <a:cs typeface="Calibri" pitchFamily="34" charset="-120"/>
              </a:rPr>
              <a:t>Give users only the access they need, limited in scope and, where possible, time.</a:t>
            </a:r>
            <a:endParaRPr lang="en-US" sz="1200" dirty="0"/>
          </a:p>
        </p:txBody>
      </p:sp>
      <p:sp>
        <p:nvSpPr>
          <p:cNvPr id="21" name="Shape 19"/>
          <p:cNvSpPr/>
          <p:nvPr/>
        </p:nvSpPr>
        <p:spPr>
          <a:xfrm>
            <a:off x="4626864" y="4892040"/>
            <a:ext cx="3017520" cy="0"/>
          </a:xfrm>
          <a:prstGeom prst="line">
            <a:avLst/>
          </a:prstGeom>
          <a:noFill/>
          <a:ln w="9525">
            <a:solidFill>
              <a:srgbClr val="26314F"/>
            </a:solidFill>
            <a:prstDash val="solid"/>
          </a:ln>
        </p:spPr>
        <p:txBody>
          <a:bodyPr/>
          <a:lstStyle/>
          <a:p>
            <a:endParaRPr lang="en-IN"/>
          </a:p>
        </p:txBody>
      </p:sp>
      <p:sp>
        <p:nvSpPr>
          <p:cNvPr id="22" name="Text 20"/>
          <p:cNvSpPr/>
          <p:nvPr/>
        </p:nvSpPr>
        <p:spPr>
          <a:xfrm>
            <a:off x="4626864" y="4983480"/>
            <a:ext cx="3017520" cy="228600"/>
          </a:xfrm>
          <a:prstGeom prst="rect">
            <a:avLst/>
          </a:prstGeom>
          <a:noFill/>
          <a:ln/>
        </p:spPr>
        <p:txBody>
          <a:bodyPr wrap="square" rtlCol="0" anchor="ctr"/>
          <a:lstStyle/>
          <a:p>
            <a:pPr marL="0" indent="0">
              <a:buNone/>
            </a:pPr>
            <a:r>
              <a:rPr lang="en-US" sz="900" b="1" kern="0" spc="100" dirty="0">
                <a:solidFill>
                  <a:srgbClr val="00E0C6"/>
                </a:solidFill>
                <a:latin typeface="Calibri" pitchFamily="34" charset="0"/>
                <a:ea typeface="Calibri" pitchFamily="34" charset="-122"/>
                <a:cs typeface="Calibri" pitchFamily="34" charset="-120"/>
              </a:rPr>
              <a:t>EXAMPLE</a:t>
            </a:r>
            <a:endParaRPr lang="en-US" sz="900" dirty="0"/>
          </a:p>
        </p:txBody>
      </p:sp>
      <p:sp>
        <p:nvSpPr>
          <p:cNvPr id="23" name="Text 21"/>
          <p:cNvSpPr/>
          <p:nvPr/>
        </p:nvSpPr>
        <p:spPr>
          <a:xfrm>
            <a:off x="4626864" y="5193792"/>
            <a:ext cx="3017520" cy="594360"/>
          </a:xfrm>
          <a:prstGeom prst="rect">
            <a:avLst/>
          </a:prstGeom>
          <a:noFill/>
          <a:ln/>
        </p:spPr>
        <p:txBody>
          <a:bodyPr wrap="square" rtlCol="0" anchor="t"/>
          <a:lstStyle/>
          <a:p>
            <a:pPr marL="0" indent="0">
              <a:buNone/>
            </a:pPr>
            <a:r>
              <a:rPr lang="en-US" sz="1100" i="1" dirty="0">
                <a:solidFill>
                  <a:srgbClr val="9FB0CE"/>
                </a:solidFill>
                <a:latin typeface="Calibri" pitchFamily="34" charset="0"/>
                <a:ea typeface="Calibri" pitchFamily="34" charset="-122"/>
                <a:cs typeface="Calibri" pitchFamily="34" charset="-120"/>
              </a:rPr>
              <a:t>A contractor gets read-only access to one project folder for 30 days.</a:t>
            </a:r>
            <a:endParaRPr lang="en-US" sz="1100" dirty="0"/>
          </a:p>
        </p:txBody>
      </p:sp>
      <p:sp>
        <p:nvSpPr>
          <p:cNvPr id="24" name="Shape 22"/>
          <p:cNvSpPr/>
          <p:nvPr/>
        </p:nvSpPr>
        <p:spPr>
          <a:xfrm>
            <a:off x="8156448" y="1737360"/>
            <a:ext cx="3566160" cy="4114800"/>
          </a:xfrm>
          <a:prstGeom prst="roundRect">
            <a:avLst>
              <a:gd name="adj" fmla="val 2051"/>
            </a:avLst>
          </a:prstGeom>
          <a:solidFill>
            <a:srgbClr val="121A2E"/>
          </a:solidFill>
          <a:ln w="12700">
            <a:solidFill>
              <a:srgbClr val="26314F"/>
            </a:solidFill>
            <a:prstDash val="solid"/>
          </a:ln>
        </p:spPr>
        <p:txBody>
          <a:bodyPr/>
          <a:lstStyle/>
          <a:p>
            <a:endParaRPr lang="en-IN"/>
          </a:p>
        </p:txBody>
      </p:sp>
      <p:sp>
        <p:nvSpPr>
          <p:cNvPr id="25" name="Shape 23"/>
          <p:cNvSpPr/>
          <p:nvPr/>
        </p:nvSpPr>
        <p:spPr>
          <a:xfrm>
            <a:off x="8430768" y="2011680"/>
            <a:ext cx="548640" cy="548640"/>
          </a:xfrm>
          <a:prstGeom prst="ellipse">
            <a:avLst/>
          </a:prstGeom>
          <a:solidFill>
            <a:srgbClr val="00E0C6"/>
          </a:solidFill>
          <a:ln/>
        </p:spPr>
        <p:txBody>
          <a:bodyPr/>
          <a:lstStyle/>
          <a:p>
            <a:endParaRPr lang="en-IN"/>
          </a:p>
        </p:txBody>
      </p:sp>
      <p:sp>
        <p:nvSpPr>
          <p:cNvPr id="26" name="Text 24"/>
          <p:cNvSpPr/>
          <p:nvPr/>
        </p:nvSpPr>
        <p:spPr>
          <a:xfrm>
            <a:off x="8430768" y="2011680"/>
            <a:ext cx="548640" cy="54864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8430768" y="2743200"/>
            <a:ext cx="3017520" cy="6400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Assume Breach</a:t>
            </a:r>
            <a:endParaRPr lang="en-US" sz="1600" dirty="0"/>
          </a:p>
        </p:txBody>
      </p:sp>
      <p:sp>
        <p:nvSpPr>
          <p:cNvPr id="28" name="Text 26"/>
          <p:cNvSpPr/>
          <p:nvPr/>
        </p:nvSpPr>
        <p:spPr>
          <a:xfrm>
            <a:off x="8430768" y="3429000"/>
            <a:ext cx="3017520" cy="1371600"/>
          </a:xfrm>
          <a:prstGeom prst="rect">
            <a:avLst/>
          </a:prstGeom>
          <a:noFill/>
          <a:ln/>
        </p:spPr>
        <p:txBody>
          <a:bodyPr wrap="square" rtlCol="0" anchor="t"/>
          <a:lstStyle/>
          <a:p>
            <a:pPr marL="0" indent="0">
              <a:buNone/>
            </a:pPr>
            <a:r>
              <a:rPr lang="en-US" sz="1200" dirty="0">
                <a:solidFill>
                  <a:srgbClr val="9FB0CE"/>
                </a:solidFill>
                <a:latin typeface="Calibri" pitchFamily="34" charset="0"/>
                <a:ea typeface="Calibri" pitchFamily="34" charset="-122"/>
                <a:cs typeface="Calibri" pitchFamily="34" charset="-120"/>
              </a:rPr>
              <a:t>Design as if an attacker is already inside — segment access and monitor continuously.</a:t>
            </a:r>
            <a:endParaRPr lang="en-US" sz="1200" dirty="0"/>
          </a:p>
        </p:txBody>
      </p:sp>
      <p:sp>
        <p:nvSpPr>
          <p:cNvPr id="29" name="Shape 27"/>
          <p:cNvSpPr/>
          <p:nvPr/>
        </p:nvSpPr>
        <p:spPr>
          <a:xfrm>
            <a:off x="8430768" y="4892040"/>
            <a:ext cx="3017520" cy="0"/>
          </a:xfrm>
          <a:prstGeom prst="line">
            <a:avLst/>
          </a:prstGeom>
          <a:noFill/>
          <a:ln w="9525">
            <a:solidFill>
              <a:srgbClr val="26314F"/>
            </a:solidFill>
            <a:prstDash val="solid"/>
          </a:ln>
        </p:spPr>
        <p:txBody>
          <a:bodyPr/>
          <a:lstStyle/>
          <a:p>
            <a:endParaRPr lang="en-IN"/>
          </a:p>
        </p:txBody>
      </p:sp>
      <p:sp>
        <p:nvSpPr>
          <p:cNvPr id="30" name="Text 28"/>
          <p:cNvSpPr/>
          <p:nvPr/>
        </p:nvSpPr>
        <p:spPr>
          <a:xfrm>
            <a:off x="8430768" y="4983480"/>
            <a:ext cx="3017520" cy="228600"/>
          </a:xfrm>
          <a:prstGeom prst="rect">
            <a:avLst/>
          </a:prstGeom>
          <a:noFill/>
          <a:ln/>
        </p:spPr>
        <p:txBody>
          <a:bodyPr wrap="square" rtlCol="0" anchor="ctr"/>
          <a:lstStyle/>
          <a:p>
            <a:pPr marL="0" indent="0">
              <a:buNone/>
            </a:pPr>
            <a:r>
              <a:rPr lang="en-US" sz="900" b="1" kern="0" spc="100" dirty="0">
                <a:solidFill>
                  <a:srgbClr val="00E0C6"/>
                </a:solidFill>
                <a:latin typeface="Calibri" pitchFamily="34" charset="0"/>
                <a:ea typeface="Calibri" pitchFamily="34" charset="-122"/>
                <a:cs typeface="Calibri" pitchFamily="34" charset="-120"/>
              </a:rPr>
              <a:t>EXAMPLE</a:t>
            </a:r>
            <a:endParaRPr lang="en-US" sz="900" dirty="0"/>
          </a:p>
        </p:txBody>
      </p:sp>
      <p:sp>
        <p:nvSpPr>
          <p:cNvPr id="31" name="Text 29"/>
          <p:cNvSpPr/>
          <p:nvPr/>
        </p:nvSpPr>
        <p:spPr>
          <a:xfrm>
            <a:off x="8430768" y="5193792"/>
            <a:ext cx="3017520" cy="594360"/>
          </a:xfrm>
          <a:prstGeom prst="rect">
            <a:avLst/>
          </a:prstGeom>
          <a:noFill/>
          <a:ln/>
        </p:spPr>
        <p:txBody>
          <a:bodyPr wrap="square" rtlCol="0" anchor="t"/>
          <a:lstStyle/>
          <a:p>
            <a:pPr marL="0" indent="0">
              <a:buNone/>
            </a:pPr>
            <a:r>
              <a:rPr lang="en-US" sz="1100" i="1" dirty="0">
                <a:solidFill>
                  <a:srgbClr val="9FB0CE"/>
                </a:solidFill>
                <a:latin typeface="Calibri" pitchFamily="34" charset="0"/>
                <a:ea typeface="Calibri" pitchFamily="34" charset="-122"/>
                <a:cs typeface="Calibri" pitchFamily="34" charset="-120"/>
              </a:rPr>
              <a:t>One compromised laptop cannot reach the entire internal network.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Zero Trust Architecture</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07 / 25</a:t>
            </a:r>
            <a:endParaRPr lang="en-US" sz="900" dirty="0"/>
          </a:p>
        </p:txBody>
      </p:sp>
      <p:sp>
        <p:nvSpPr>
          <p:cNvPr id="8" name="Shape 6"/>
          <p:cNvSpPr/>
          <p:nvPr/>
        </p:nvSpPr>
        <p:spPr>
          <a:xfrm>
            <a:off x="4480560" y="1691640"/>
            <a:ext cx="3291840" cy="566928"/>
          </a:xfrm>
          <a:prstGeom prst="roundRect">
            <a:avLst>
              <a:gd name="adj" fmla="val 11290"/>
            </a:avLst>
          </a:prstGeom>
          <a:solidFill>
            <a:srgbClr val="182444"/>
          </a:solidFill>
          <a:ln w="12700">
            <a:solidFill>
              <a:srgbClr val="26314F"/>
            </a:solidFill>
            <a:prstDash val="solid"/>
          </a:ln>
        </p:spPr>
        <p:txBody>
          <a:bodyPr/>
          <a:lstStyle/>
          <a:p>
            <a:endParaRPr lang="en-IN"/>
          </a:p>
        </p:txBody>
      </p:sp>
      <p:sp>
        <p:nvSpPr>
          <p:cNvPr id="9" name="Text 7"/>
          <p:cNvSpPr/>
          <p:nvPr/>
        </p:nvSpPr>
        <p:spPr>
          <a:xfrm>
            <a:off x="4480560" y="1691640"/>
            <a:ext cx="329184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10" name="Shape 8"/>
          <p:cNvSpPr/>
          <p:nvPr/>
        </p:nvSpPr>
        <p:spPr>
          <a:xfrm>
            <a:off x="6126480" y="2276856"/>
            <a:ext cx="0" cy="164592"/>
          </a:xfrm>
          <a:prstGeom prst="line">
            <a:avLst/>
          </a:prstGeom>
          <a:noFill/>
          <a:ln w="19050">
            <a:solidFill>
              <a:srgbClr val="00E0C6"/>
            </a:solidFill>
            <a:prstDash val="solid"/>
            <a:tailEnd type="triangle"/>
          </a:ln>
        </p:spPr>
        <p:txBody>
          <a:bodyPr/>
          <a:lstStyle/>
          <a:p>
            <a:endParaRPr lang="en-IN"/>
          </a:p>
        </p:txBody>
      </p:sp>
      <p:sp>
        <p:nvSpPr>
          <p:cNvPr id="11" name="Shape 9"/>
          <p:cNvSpPr/>
          <p:nvPr/>
        </p:nvSpPr>
        <p:spPr>
          <a:xfrm>
            <a:off x="4480560" y="2459736"/>
            <a:ext cx="3291840" cy="566928"/>
          </a:xfrm>
          <a:prstGeom prst="roundRect">
            <a:avLst>
              <a:gd name="adj" fmla="val 11290"/>
            </a:avLst>
          </a:prstGeom>
          <a:solidFill>
            <a:srgbClr val="182444"/>
          </a:solidFill>
          <a:ln w="12700">
            <a:solidFill>
              <a:srgbClr val="26314F"/>
            </a:solidFill>
            <a:prstDash val="solid"/>
          </a:ln>
        </p:spPr>
        <p:txBody>
          <a:bodyPr/>
          <a:lstStyle/>
          <a:p>
            <a:endParaRPr lang="en-IN"/>
          </a:p>
        </p:txBody>
      </p:sp>
      <p:sp>
        <p:nvSpPr>
          <p:cNvPr id="12" name="Text 10"/>
          <p:cNvSpPr/>
          <p:nvPr/>
        </p:nvSpPr>
        <p:spPr>
          <a:xfrm>
            <a:off x="4480560" y="2459736"/>
            <a:ext cx="329184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Identity Provider</a:t>
            </a:r>
            <a:endParaRPr lang="en-US" sz="1300" dirty="0"/>
          </a:p>
        </p:txBody>
      </p:sp>
      <p:sp>
        <p:nvSpPr>
          <p:cNvPr id="13" name="Shape 11"/>
          <p:cNvSpPr/>
          <p:nvPr/>
        </p:nvSpPr>
        <p:spPr>
          <a:xfrm>
            <a:off x="6126480" y="3044952"/>
            <a:ext cx="0" cy="164592"/>
          </a:xfrm>
          <a:prstGeom prst="line">
            <a:avLst/>
          </a:prstGeom>
          <a:noFill/>
          <a:ln w="19050">
            <a:solidFill>
              <a:srgbClr val="00E0C6"/>
            </a:solidFill>
            <a:prstDash val="solid"/>
            <a:tailEnd type="triangle"/>
          </a:ln>
        </p:spPr>
        <p:txBody>
          <a:bodyPr/>
          <a:lstStyle/>
          <a:p>
            <a:endParaRPr lang="en-IN"/>
          </a:p>
        </p:txBody>
      </p:sp>
      <p:sp>
        <p:nvSpPr>
          <p:cNvPr id="14" name="Shape 12"/>
          <p:cNvSpPr/>
          <p:nvPr/>
        </p:nvSpPr>
        <p:spPr>
          <a:xfrm>
            <a:off x="4480560" y="3227832"/>
            <a:ext cx="3291840" cy="566928"/>
          </a:xfrm>
          <a:prstGeom prst="roundRect">
            <a:avLst>
              <a:gd name="adj" fmla="val 11290"/>
            </a:avLst>
          </a:prstGeom>
          <a:solidFill>
            <a:srgbClr val="182444"/>
          </a:solidFill>
          <a:ln w="12700">
            <a:solidFill>
              <a:srgbClr val="26314F"/>
            </a:solidFill>
            <a:prstDash val="solid"/>
          </a:ln>
        </p:spPr>
        <p:txBody>
          <a:bodyPr/>
          <a:lstStyle/>
          <a:p>
            <a:endParaRPr lang="en-IN"/>
          </a:p>
        </p:txBody>
      </p:sp>
      <p:sp>
        <p:nvSpPr>
          <p:cNvPr id="15" name="Text 13"/>
          <p:cNvSpPr/>
          <p:nvPr/>
        </p:nvSpPr>
        <p:spPr>
          <a:xfrm>
            <a:off x="4480560" y="3227832"/>
            <a:ext cx="329184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Policy Engine</a:t>
            </a:r>
            <a:endParaRPr lang="en-US" sz="1300" dirty="0"/>
          </a:p>
        </p:txBody>
      </p:sp>
      <p:sp>
        <p:nvSpPr>
          <p:cNvPr id="16" name="Shape 14"/>
          <p:cNvSpPr/>
          <p:nvPr/>
        </p:nvSpPr>
        <p:spPr>
          <a:xfrm>
            <a:off x="6126480" y="3813048"/>
            <a:ext cx="0" cy="164592"/>
          </a:xfrm>
          <a:prstGeom prst="line">
            <a:avLst/>
          </a:prstGeom>
          <a:noFill/>
          <a:ln w="19050">
            <a:solidFill>
              <a:srgbClr val="00E0C6"/>
            </a:solidFill>
            <a:prstDash val="solid"/>
            <a:tailEnd type="triangle"/>
          </a:ln>
        </p:spPr>
        <p:txBody>
          <a:bodyPr/>
          <a:lstStyle/>
          <a:p>
            <a:endParaRPr lang="en-IN"/>
          </a:p>
        </p:txBody>
      </p:sp>
      <p:sp>
        <p:nvSpPr>
          <p:cNvPr id="17" name="Shape 15"/>
          <p:cNvSpPr/>
          <p:nvPr/>
        </p:nvSpPr>
        <p:spPr>
          <a:xfrm>
            <a:off x="4480560" y="3995928"/>
            <a:ext cx="3291840" cy="566928"/>
          </a:xfrm>
          <a:prstGeom prst="roundRect">
            <a:avLst>
              <a:gd name="adj" fmla="val 11290"/>
            </a:avLst>
          </a:prstGeom>
          <a:solidFill>
            <a:srgbClr val="182444"/>
          </a:solidFill>
          <a:ln w="12700">
            <a:solidFill>
              <a:srgbClr val="26314F"/>
            </a:solidFill>
            <a:prstDash val="solid"/>
          </a:ln>
        </p:spPr>
        <p:txBody>
          <a:bodyPr/>
          <a:lstStyle/>
          <a:p>
            <a:endParaRPr lang="en-IN"/>
          </a:p>
        </p:txBody>
      </p:sp>
      <p:sp>
        <p:nvSpPr>
          <p:cNvPr id="18" name="Text 16"/>
          <p:cNvSpPr/>
          <p:nvPr/>
        </p:nvSpPr>
        <p:spPr>
          <a:xfrm>
            <a:off x="4480560" y="3995928"/>
            <a:ext cx="329184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Policy Enforcement Point</a:t>
            </a:r>
            <a:endParaRPr lang="en-US" sz="1300" dirty="0"/>
          </a:p>
        </p:txBody>
      </p:sp>
      <p:sp>
        <p:nvSpPr>
          <p:cNvPr id="19" name="Shape 17"/>
          <p:cNvSpPr/>
          <p:nvPr/>
        </p:nvSpPr>
        <p:spPr>
          <a:xfrm>
            <a:off x="6126480" y="4581144"/>
            <a:ext cx="0" cy="164592"/>
          </a:xfrm>
          <a:prstGeom prst="line">
            <a:avLst/>
          </a:prstGeom>
          <a:noFill/>
          <a:ln w="19050">
            <a:solidFill>
              <a:srgbClr val="00E0C6"/>
            </a:solidFill>
            <a:prstDash val="solid"/>
            <a:tailEnd type="triangle"/>
          </a:ln>
        </p:spPr>
        <p:txBody>
          <a:bodyPr/>
          <a:lstStyle/>
          <a:p>
            <a:endParaRPr lang="en-IN"/>
          </a:p>
        </p:txBody>
      </p:sp>
      <p:sp>
        <p:nvSpPr>
          <p:cNvPr id="20" name="Shape 18"/>
          <p:cNvSpPr/>
          <p:nvPr/>
        </p:nvSpPr>
        <p:spPr>
          <a:xfrm>
            <a:off x="4480560" y="4764024"/>
            <a:ext cx="3291840" cy="566928"/>
          </a:xfrm>
          <a:prstGeom prst="roundRect">
            <a:avLst>
              <a:gd name="adj" fmla="val 11290"/>
            </a:avLst>
          </a:prstGeom>
          <a:solidFill>
            <a:srgbClr val="0E3A34"/>
          </a:solidFill>
          <a:ln w="12700">
            <a:solidFill>
              <a:srgbClr val="4ADE80"/>
            </a:solidFill>
            <a:prstDash val="solid"/>
          </a:ln>
        </p:spPr>
        <p:txBody>
          <a:bodyPr/>
          <a:lstStyle/>
          <a:p>
            <a:endParaRPr lang="en-IN"/>
          </a:p>
        </p:txBody>
      </p:sp>
      <p:sp>
        <p:nvSpPr>
          <p:cNvPr id="21" name="Text 19"/>
          <p:cNvSpPr/>
          <p:nvPr/>
        </p:nvSpPr>
        <p:spPr>
          <a:xfrm>
            <a:off x="4480560" y="4764024"/>
            <a:ext cx="3291840" cy="566928"/>
          </a:xfrm>
          <a:prstGeom prst="rect">
            <a:avLst/>
          </a:prstGeom>
          <a:noFill/>
          <a:ln/>
        </p:spPr>
        <p:txBody>
          <a:bodyPr wrap="square" rtlCol="0" anchor="ctr"/>
          <a:lstStyle/>
          <a:p>
            <a:pPr marL="0" indent="0" algn="ctr">
              <a:buNone/>
            </a:pPr>
            <a:r>
              <a:rPr lang="en-US" sz="1300" b="1" dirty="0">
                <a:solidFill>
                  <a:srgbClr val="4ADE80"/>
                </a:solidFill>
                <a:latin typeface="Calibri" pitchFamily="34" charset="0"/>
                <a:ea typeface="Calibri" pitchFamily="34" charset="-122"/>
                <a:cs typeface="Calibri" pitchFamily="34" charset="-120"/>
              </a:rPr>
              <a:t>Application / Resource</a:t>
            </a:r>
            <a:endParaRPr lang="en-US" sz="1300" dirty="0"/>
          </a:p>
        </p:txBody>
      </p:sp>
      <p:sp>
        <p:nvSpPr>
          <p:cNvPr id="22" name="Shape 20"/>
          <p:cNvSpPr/>
          <p:nvPr/>
        </p:nvSpPr>
        <p:spPr>
          <a:xfrm>
            <a:off x="914400" y="2880360"/>
            <a:ext cx="2651760" cy="502920"/>
          </a:xfrm>
          <a:prstGeom prst="roundRect">
            <a:avLst>
              <a:gd name="adj" fmla="val 10909"/>
            </a:avLst>
          </a:prstGeom>
          <a:solidFill>
            <a:srgbClr val="121A2E"/>
          </a:solidFill>
          <a:ln w="12700">
            <a:solidFill>
              <a:srgbClr val="26314F"/>
            </a:solidFill>
            <a:prstDash val="solid"/>
          </a:ln>
        </p:spPr>
        <p:txBody>
          <a:bodyPr/>
          <a:lstStyle/>
          <a:p>
            <a:endParaRPr lang="en-IN"/>
          </a:p>
        </p:txBody>
      </p:sp>
      <p:sp>
        <p:nvSpPr>
          <p:cNvPr id="23" name="Text 21"/>
          <p:cNvSpPr/>
          <p:nvPr/>
        </p:nvSpPr>
        <p:spPr>
          <a:xfrm>
            <a:off x="914400" y="2880360"/>
            <a:ext cx="2651760" cy="502920"/>
          </a:xfrm>
          <a:prstGeom prst="rect">
            <a:avLst/>
          </a:prstGeom>
          <a:noFill/>
          <a:ln/>
        </p:spPr>
        <p:txBody>
          <a:bodyPr wrap="square" rtlCol="0" anchor="ctr"/>
          <a:lstStyle/>
          <a:p>
            <a:pPr marL="0" indent="0" algn="ctr">
              <a:buNone/>
            </a:pPr>
            <a:r>
              <a:rPr lang="en-US" sz="1200" dirty="0">
                <a:solidFill>
                  <a:srgbClr val="9FB0CE"/>
                </a:solidFill>
                <a:latin typeface="Calibri" pitchFamily="34" charset="0"/>
                <a:ea typeface="Calibri" pitchFamily="34" charset="-122"/>
                <a:cs typeface="Calibri" pitchFamily="34" charset="-120"/>
              </a:rPr>
              <a:t>Device</a:t>
            </a:r>
            <a:endParaRPr lang="en-US" sz="1200" dirty="0"/>
          </a:p>
        </p:txBody>
      </p:sp>
      <p:sp>
        <p:nvSpPr>
          <p:cNvPr id="24" name="Shape 22"/>
          <p:cNvSpPr/>
          <p:nvPr/>
        </p:nvSpPr>
        <p:spPr>
          <a:xfrm>
            <a:off x="3566160" y="3131820"/>
            <a:ext cx="914400" cy="0"/>
          </a:xfrm>
          <a:prstGeom prst="line">
            <a:avLst/>
          </a:prstGeom>
          <a:noFill/>
          <a:ln w="12700">
            <a:solidFill>
              <a:srgbClr val="5E6E8F"/>
            </a:solidFill>
            <a:prstDash val="dash"/>
          </a:ln>
        </p:spPr>
        <p:txBody>
          <a:bodyPr/>
          <a:lstStyle/>
          <a:p>
            <a:endParaRPr lang="en-IN"/>
          </a:p>
        </p:txBody>
      </p:sp>
      <p:sp>
        <p:nvSpPr>
          <p:cNvPr id="25" name="Shape 23"/>
          <p:cNvSpPr/>
          <p:nvPr/>
        </p:nvSpPr>
        <p:spPr>
          <a:xfrm>
            <a:off x="914400" y="3520440"/>
            <a:ext cx="2651760" cy="502920"/>
          </a:xfrm>
          <a:prstGeom prst="roundRect">
            <a:avLst>
              <a:gd name="adj" fmla="val 10909"/>
            </a:avLst>
          </a:prstGeom>
          <a:solidFill>
            <a:srgbClr val="121A2E"/>
          </a:solidFill>
          <a:ln w="12700">
            <a:solidFill>
              <a:srgbClr val="26314F"/>
            </a:solidFill>
            <a:prstDash val="solid"/>
          </a:ln>
        </p:spPr>
        <p:txBody>
          <a:bodyPr/>
          <a:lstStyle/>
          <a:p>
            <a:endParaRPr lang="en-IN"/>
          </a:p>
        </p:txBody>
      </p:sp>
      <p:sp>
        <p:nvSpPr>
          <p:cNvPr id="26" name="Text 24"/>
          <p:cNvSpPr/>
          <p:nvPr/>
        </p:nvSpPr>
        <p:spPr>
          <a:xfrm>
            <a:off x="914400" y="3520440"/>
            <a:ext cx="2651760" cy="502920"/>
          </a:xfrm>
          <a:prstGeom prst="rect">
            <a:avLst/>
          </a:prstGeom>
          <a:noFill/>
          <a:ln/>
        </p:spPr>
        <p:txBody>
          <a:bodyPr wrap="square" rtlCol="0" anchor="ctr"/>
          <a:lstStyle/>
          <a:p>
            <a:pPr marL="0" indent="0" algn="ctr">
              <a:buNone/>
            </a:pPr>
            <a:r>
              <a:rPr lang="en-US" sz="1200" dirty="0">
                <a:solidFill>
                  <a:srgbClr val="9FB0CE"/>
                </a:solidFill>
                <a:latin typeface="Calibri" pitchFamily="34" charset="0"/>
                <a:ea typeface="Calibri" pitchFamily="34" charset="-122"/>
                <a:cs typeface="Calibri" pitchFamily="34" charset="-120"/>
              </a:rPr>
              <a:t>Network</a:t>
            </a:r>
            <a:endParaRPr lang="en-US" sz="1200" dirty="0"/>
          </a:p>
        </p:txBody>
      </p:sp>
      <p:sp>
        <p:nvSpPr>
          <p:cNvPr id="27" name="Shape 25"/>
          <p:cNvSpPr/>
          <p:nvPr/>
        </p:nvSpPr>
        <p:spPr>
          <a:xfrm>
            <a:off x="3566160" y="3771900"/>
            <a:ext cx="914400" cy="0"/>
          </a:xfrm>
          <a:prstGeom prst="line">
            <a:avLst/>
          </a:prstGeom>
          <a:noFill/>
          <a:ln w="12700">
            <a:solidFill>
              <a:srgbClr val="5E6E8F"/>
            </a:solidFill>
            <a:prstDash val="dash"/>
          </a:ln>
        </p:spPr>
        <p:txBody>
          <a:bodyPr/>
          <a:lstStyle/>
          <a:p>
            <a:endParaRPr lang="en-IN"/>
          </a:p>
        </p:txBody>
      </p:sp>
      <p:sp>
        <p:nvSpPr>
          <p:cNvPr id="28" name="Shape 26"/>
          <p:cNvSpPr/>
          <p:nvPr/>
        </p:nvSpPr>
        <p:spPr>
          <a:xfrm>
            <a:off x="8641080" y="2880360"/>
            <a:ext cx="2651760" cy="502920"/>
          </a:xfrm>
          <a:prstGeom prst="roundRect">
            <a:avLst>
              <a:gd name="adj" fmla="val 10909"/>
            </a:avLst>
          </a:prstGeom>
          <a:solidFill>
            <a:srgbClr val="121A2E"/>
          </a:solidFill>
          <a:ln w="12700">
            <a:solidFill>
              <a:srgbClr val="26314F"/>
            </a:solidFill>
            <a:prstDash val="solid"/>
          </a:ln>
        </p:spPr>
        <p:txBody>
          <a:bodyPr/>
          <a:lstStyle/>
          <a:p>
            <a:endParaRPr lang="en-IN"/>
          </a:p>
        </p:txBody>
      </p:sp>
      <p:sp>
        <p:nvSpPr>
          <p:cNvPr id="29" name="Text 27"/>
          <p:cNvSpPr/>
          <p:nvPr/>
        </p:nvSpPr>
        <p:spPr>
          <a:xfrm>
            <a:off x="8641080" y="2880360"/>
            <a:ext cx="2651760" cy="502920"/>
          </a:xfrm>
          <a:prstGeom prst="rect">
            <a:avLst/>
          </a:prstGeom>
          <a:noFill/>
          <a:ln/>
        </p:spPr>
        <p:txBody>
          <a:bodyPr wrap="square" rtlCol="0" anchor="ctr"/>
          <a:lstStyle/>
          <a:p>
            <a:pPr marL="0" indent="0" algn="ctr">
              <a:buNone/>
            </a:pPr>
            <a:r>
              <a:rPr lang="en-US" sz="1200" dirty="0">
                <a:solidFill>
                  <a:srgbClr val="9FB0CE"/>
                </a:solidFill>
                <a:latin typeface="Calibri" pitchFamily="34" charset="0"/>
                <a:ea typeface="Calibri" pitchFamily="34" charset="-122"/>
                <a:cs typeface="Calibri" pitchFamily="34" charset="-120"/>
              </a:rPr>
              <a:t>Data</a:t>
            </a:r>
            <a:endParaRPr lang="en-US" sz="1200" dirty="0"/>
          </a:p>
        </p:txBody>
      </p:sp>
      <p:sp>
        <p:nvSpPr>
          <p:cNvPr id="30" name="Shape 28"/>
          <p:cNvSpPr/>
          <p:nvPr/>
        </p:nvSpPr>
        <p:spPr>
          <a:xfrm>
            <a:off x="7772400" y="3131820"/>
            <a:ext cx="868680" cy="0"/>
          </a:xfrm>
          <a:prstGeom prst="line">
            <a:avLst/>
          </a:prstGeom>
          <a:noFill/>
          <a:ln w="12700">
            <a:solidFill>
              <a:srgbClr val="5E6E8F"/>
            </a:solidFill>
            <a:prstDash val="dash"/>
          </a:ln>
        </p:spPr>
        <p:txBody>
          <a:bodyPr/>
          <a:lstStyle/>
          <a:p>
            <a:endParaRPr lang="en-IN"/>
          </a:p>
        </p:txBody>
      </p:sp>
      <p:sp>
        <p:nvSpPr>
          <p:cNvPr id="31" name="Shape 29"/>
          <p:cNvSpPr/>
          <p:nvPr/>
        </p:nvSpPr>
        <p:spPr>
          <a:xfrm>
            <a:off x="8641080" y="3520440"/>
            <a:ext cx="2651760" cy="502920"/>
          </a:xfrm>
          <a:prstGeom prst="roundRect">
            <a:avLst>
              <a:gd name="adj" fmla="val 10909"/>
            </a:avLst>
          </a:prstGeom>
          <a:solidFill>
            <a:srgbClr val="121A2E"/>
          </a:solidFill>
          <a:ln w="12700">
            <a:solidFill>
              <a:srgbClr val="26314F"/>
            </a:solidFill>
            <a:prstDash val="solid"/>
          </a:ln>
        </p:spPr>
        <p:txBody>
          <a:bodyPr/>
          <a:lstStyle/>
          <a:p>
            <a:endParaRPr lang="en-IN"/>
          </a:p>
        </p:txBody>
      </p:sp>
      <p:sp>
        <p:nvSpPr>
          <p:cNvPr id="32" name="Text 30"/>
          <p:cNvSpPr/>
          <p:nvPr/>
        </p:nvSpPr>
        <p:spPr>
          <a:xfrm>
            <a:off x="8641080" y="3520440"/>
            <a:ext cx="2651760" cy="502920"/>
          </a:xfrm>
          <a:prstGeom prst="rect">
            <a:avLst/>
          </a:prstGeom>
          <a:noFill/>
          <a:ln/>
        </p:spPr>
        <p:txBody>
          <a:bodyPr wrap="square" rtlCol="0" anchor="ctr"/>
          <a:lstStyle/>
          <a:p>
            <a:pPr marL="0" indent="0" algn="ctr">
              <a:buNone/>
            </a:pPr>
            <a:r>
              <a:rPr lang="en-US" sz="1200" dirty="0">
                <a:solidFill>
                  <a:srgbClr val="9FB0CE"/>
                </a:solidFill>
                <a:latin typeface="Calibri" pitchFamily="34" charset="0"/>
                <a:ea typeface="Calibri" pitchFamily="34" charset="-122"/>
                <a:cs typeface="Calibri" pitchFamily="34" charset="-120"/>
              </a:rPr>
              <a:t>Monitoring</a:t>
            </a:r>
            <a:endParaRPr lang="en-US" sz="1200" dirty="0"/>
          </a:p>
        </p:txBody>
      </p:sp>
      <p:sp>
        <p:nvSpPr>
          <p:cNvPr id="33" name="Shape 31"/>
          <p:cNvSpPr/>
          <p:nvPr/>
        </p:nvSpPr>
        <p:spPr>
          <a:xfrm>
            <a:off x="7772400" y="3771900"/>
            <a:ext cx="868680" cy="0"/>
          </a:xfrm>
          <a:prstGeom prst="line">
            <a:avLst/>
          </a:prstGeom>
          <a:noFill/>
          <a:ln w="12700">
            <a:solidFill>
              <a:srgbClr val="5E6E8F"/>
            </a:solidFill>
            <a:prstDash val="dash"/>
          </a:ln>
        </p:spPr>
        <p:txBody>
          <a:bodyPr/>
          <a:lstStyle/>
          <a:p>
            <a:endParaRPr lang="en-IN"/>
          </a:p>
        </p:txBody>
      </p:sp>
      <p:sp>
        <p:nvSpPr>
          <p:cNvPr id="34" name="Text 32"/>
          <p:cNvSpPr/>
          <p:nvPr/>
        </p:nvSpPr>
        <p:spPr>
          <a:xfrm>
            <a:off x="914400" y="5486400"/>
            <a:ext cx="10332720" cy="365760"/>
          </a:xfrm>
          <a:prstGeom prst="rect">
            <a:avLst/>
          </a:prstGeom>
          <a:noFill/>
          <a:ln/>
        </p:spPr>
        <p:txBody>
          <a:bodyPr wrap="square" rtlCol="0" anchor="ctr"/>
          <a:lstStyle/>
          <a:p>
            <a:pPr marL="0" indent="0" algn="ctr">
              <a:buNone/>
            </a:pPr>
            <a:r>
              <a:rPr lang="en-US" sz="1150" i="1" dirty="0">
                <a:solidFill>
                  <a:srgbClr val="5E6E8F"/>
                </a:solidFill>
                <a:latin typeface="Calibri" pitchFamily="34" charset="0"/>
                <a:ea typeface="Calibri" pitchFamily="34" charset="-122"/>
                <a:cs typeface="Calibri" pitchFamily="34" charset="-120"/>
              </a:rPr>
              <a:t>Threat Intelligence feeds the Policy Engine with real-time risk signals.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Zero Trust Reference Architecture</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08 / 25</a:t>
            </a:r>
            <a:endParaRPr lang="en-US" sz="900" dirty="0"/>
          </a:p>
        </p:txBody>
      </p:sp>
      <p:sp>
        <p:nvSpPr>
          <p:cNvPr id="8" name="Shape 6"/>
          <p:cNvSpPr/>
          <p:nvPr/>
        </p:nvSpPr>
        <p:spPr>
          <a:xfrm>
            <a:off x="548640" y="173736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9" name="Shape 7"/>
          <p:cNvSpPr/>
          <p:nvPr/>
        </p:nvSpPr>
        <p:spPr>
          <a:xfrm>
            <a:off x="731520" y="1920240"/>
            <a:ext cx="384048" cy="384048"/>
          </a:xfrm>
          <a:prstGeom prst="roundRect">
            <a:avLst>
              <a:gd name="adj" fmla="val 19048"/>
            </a:avLst>
          </a:prstGeom>
          <a:solidFill>
            <a:srgbClr val="00E0C6"/>
          </a:solidFill>
          <a:ln/>
        </p:spPr>
        <p:txBody>
          <a:bodyPr/>
          <a:lstStyle/>
          <a:p>
            <a:endParaRPr lang="en-IN"/>
          </a:p>
        </p:txBody>
      </p:sp>
      <p:sp>
        <p:nvSpPr>
          <p:cNvPr id="10" name="Text 8"/>
          <p:cNvSpPr/>
          <p:nvPr/>
        </p:nvSpPr>
        <p:spPr>
          <a:xfrm>
            <a:off x="731520" y="192024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731520" y="242316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Policy Engine</a:t>
            </a:r>
            <a:endParaRPr lang="en-US" sz="1350" dirty="0"/>
          </a:p>
        </p:txBody>
      </p:sp>
      <p:sp>
        <p:nvSpPr>
          <p:cNvPr id="12" name="Text 10"/>
          <p:cNvSpPr/>
          <p:nvPr/>
        </p:nvSpPr>
        <p:spPr>
          <a:xfrm>
            <a:off x="731520" y="285292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Evaluates each request and makes the allow/deny decision</a:t>
            </a:r>
            <a:endParaRPr lang="en-US" sz="1050" dirty="0"/>
          </a:p>
        </p:txBody>
      </p:sp>
      <p:sp>
        <p:nvSpPr>
          <p:cNvPr id="13" name="Shape 11"/>
          <p:cNvSpPr/>
          <p:nvPr/>
        </p:nvSpPr>
        <p:spPr>
          <a:xfrm>
            <a:off x="3328416" y="173736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14" name="Shape 12"/>
          <p:cNvSpPr/>
          <p:nvPr/>
        </p:nvSpPr>
        <p:spPr>
          <a:xfrm>
            <a:off x="3511296" y="1920240"/>
            <a:ext cx="384048" cy="384048"/>
          </a:xfrm>
          <a:prstGeom prst="roundRect">
            <a:avLst>
              <a:gd name="adj" fmla="val 19048"/>
            </a:avLst>
          </a:prstGeom>
          <a:solidFill>
            <a:srgbClr val="00E0C6"/>
          </a:solidFill>
          <a:ln/>
        </p:spPr>
        <p:txBody>
          <a:bodyPr/>
          <a:lstStyle/>
          <a:p>
            <a:endParaRPr lang="en-IN"/>
          </a:p>
        </p:txBody>
      </p:sp>
      <p:sp>
        <p:nvSpPr>
          <p:cNvPr id="15" name="Text 13"/>
          <p:cNvSpPr/>
          <p:nvPr/>
        </p:nvSpPr>
        <p:spPr>
          <a:xfrm>
            <a:off x="3511296" y="192024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3511296" y="242316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Policy Administrator</a:t>
            </a:r>
            <a:endParaRPr lang="en-US" sz="1350" dirty="0"/>
          </a:p>
        </p:txBody>
      </p:sp>
      <p:sp>
        <p:nvSpPr>
          <p:cNvPr id="17" name="Text 15"/>
          <p:cNvSpPr/>
          <p:nvPr/>
        </p:nvSpPr>
        <p:spPr>
          <a:xfrm>
            <a:off x="3511296" y="285292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Issues the decision as a command to enforcement points</a:t>
            </a:r>
            <a:endParaRPr lang="en-US" sz="1050" dirty="0"/>
          </a:p>
        </p:txBody>
      </p:sp>
      <p:sp>
        <p:nvSpPr>
          <p:cNvPr id="18" name="Shape 16"/>
          <p:cNvSpPr/>
          <p:nvPr/>
        </p:nvSpPr>
        <p:spPr>
          <a:xfrm>
            <a:off x="6108192" y="173736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19" name="Shape 17"/>
          <p:cNvSpPr/>
          <p:nvPr/>
        </p:nvSpPr>
        <p:spPr>
          <a:xfrm>
            <a:off x="6291072" y="1920240"/>
            <a:ext cx="384048" cy="384048"/>
          </a:xfrm>
          <a:prstGeom prst="roundRect">
            <a:avLst>
              <a:gd name="adj" fmla="val 19048"/>
            </a:avLst>
          </a:prstGeom>
          <a:solidFill>
            <a:srgbClr val="00E0C6"/>
          </a:solidFill>
          <a:ln/>
        </p:spPr>
        <p:txBody>
          <a:bodyPr/>
          <a:lstStyle/>
          <a:p>
            <a:endParaRPr lang="en-IN"/>
          </a:p>
        </p:txBody>
      </p:sp>
      <p:sp>
        <p:nvSpPr>
          <p:cNvPr id="20" name="Text 18"/>
          <p:cNvSpPr/>
          <p:nvPr/>
        </p:nvSpPr>
        <p:spPr>
          <a:xfrm>
            <a:off x="6291072" y="192024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6291072" y="242316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Policy Enforcement Point</a:t>
            </a:r>
            <a:endParaRPr lang="en-US" sz="1350" dirty="0"/>
          </a:p>
        </p:txBody>
      </p:sp>
      <p:sp>
        <p:nvSpPr>
          <p:cNvPr id="22" name="Text 20"/>
          <p:cNvSpPr/>
          <p:nvPr/>
        </p:nvSpPr>
        <p:spPr>
          <a:xfrm>
            <a:off x="6291072" y="285292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Sits in the data path and enforces the decision</a:t>
            </a:r>
            <a:endParaRPr lang="en-US" sz="1050" dirty="0"/>
          </a:p>
        </p:txBody>
      </p:sp>
      <p:sp>
        <p:nvSpPr>
          <p:cNvPr id="23" name="Shape 21"/>
          <p:cNvSpPr/>
          <p:nvPr/>
        </p:nvSpPr>
        <p:spPr>
          <a:xfrm>
            <a:off x="8887968" y="173736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24" name="Shape 22"/>
          <p:cNvSpPr/>
          <p:nvPr/>
        </p:nvSpPr>
        <p:spPr>
          <a:xfrm>
            <a:off x="9070848" y="1920240"/>
            <a:ext cx="384048" cy="384048"/>
          </a:xfrm>
          <a:prstGeom prst="roundRect">
            <a:avLst>
              <a:gd name="adj" fmla="val 19048"/>
            </a:avLst>
          </a:prstGeom>
          <a:solidFill>
            <a:srgbClr val="00E0C6"/>
          </a:solidFill>
          <a:ln/>
        </p:spPr>
        <p:txBody>
          <a:bodyPr/>
          <a:lstStyle/>
          <a:p>
            <a:endParaRPr lang="en-IN"/>
          </a:p>
        </p:txBody>
      </p:sp>
      <p:sp>
        <p:nvSpPr>
          <p:cNvPr id="25" name="Text 23"/>
          <p:cNvSpPr/>
          <p:nvPr/>
        </p:nvSpPr>
        <p:spPr>
          <a:xfrm>
            <a:off x="9070848" y="192024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9070848" y="242316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Identity Provider</a:t>
            </a:r>
            <a:endParaRPr lang="en-US" sz="1350" dirty="0"/>
          </a:p>
        </p:txBody>
      </p:sp>
      <p:sp>
        <p:nvSpPr>
          <p:cNvPr id="27" name="Text 25"/>
          <p:cNvSpPr/>
          <p:nvPr/>
        </p:nvSpPr>
        <p:spPr>
          <a:xfrm>
            <a:off x="9070848" y="285292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Authenticates users and issues identity signals</a:t>
            </a:r>
            <a:endParaRPr lang="en-US" sz="1050" dirty="0"/>
          </a:p>
        </p:txBody>
      </p:sp>
      <p:sp>
        <p:nvSpPr>
          <p:cNvPr id="28" name="Shape 26"/>
          <p:cNvSpPr/>
          <p:nvPr/>
        </p:nvSpPr>
        <p:spPr>
          <a:xfrm>
            <a:off x="548640" y="388620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29" name="Shape 27"/>
          <p:cNvSpPr/>
          <p:nvPr/>
        </p:nvSpPr>
        <p:spPr>
          <a:xfrm>
            <a:off x="731520" y="4069080"/>
            <a:ext cx="384048" cy="384048"/>
          </a:xfrm>
          <a:prstGeom prst="roundRect">
            <a:avLst>
              <a:gd name="adj" fmla="val 19048"/>
            </a:avLst>
          </a:prstGeom>
          <a:solidFill>
            <a:srgbClr val="00E0C6"/>
          </a:solidFill>
          <a:ln/>
        </p:spPr>
        <p:txBody>
          <a:bodyPr/>
          <a:lstStyle/>
          <a:p>
            <a:endParaRPr lang="en-IN"/>
          </a:p>
        </p:txBody>
      </p:sp>
      <p:sp>
        <p:nvSpPr>
          <p:cNvPr id="30" name="Text 28"/>
          <p:cNvSpPr/>
          <p:nvPr/>
        </p:nvSpPr>
        <p:spPr>
          <a:xfrm>
            <a:off x="731520" y="406908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731520" y="457200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Device Management</a:t>
            </a:r>
            <a:endParaRPr lang="en-US" sz="1350" dirty="0"/>
          </a:p>
        </p:txBody>
      </p:sp>
      <p:sp>
        <p:nvSpPr>
          <p:cNvPr id="32" name="Text 30"/>
          <p:cNvSpPr/>
          <p:nvPr/>
        </p:nvSpPr>
        <p:spPr>
          <a:xfrm>
            <a:off x="731520" y="500176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Confirms device health, patching, and compliance</a:t>
            </a:r>
            <a:endParaRPr lang="en-US" sz="1050" dirty="0"/>
          </a:p>
        </p:txBody>
      </p:sp>
      <p:sp>
        <p:nvSpPr>
          <p:cNvPr id="33" name="Shape 31"/>
          <p:cNvSpPr/>
          <p:nvPr/>
        </p:nvSpPr>
        <p:spPr>
          <a:xfrm>
            <a:off x="3328416" y="388620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34" name="Shape 32"/>
          <p:cNvSpPr/>
          <p:nvPr/>
        </p:nvSpPr>
        <p:spPr>
          <a:xfrm>
            <a:off x="3511296" y="4069080"/>
            <a:ext cx="384048" cy="384048"/>
          </a:xfrm>
          <a:prstGeom prst="roundRect">
            <a:avLst>
              <a:gd name="adj" fmla="val 19048"/>
            </a:avLst>
          </a:prstGeom>
          <a:solidFill>
            <a:srgbClr val="00E0C6"/>
          </a:solidFill>
          <a:ln/>
        </p:spPr>
        <p:txBody>
          <a:bodyPr/>
          <a:lstStyle/>
          <a:p>
            <a:endParaRPr lang="en-IN"/>
          </a:p>
        </p:txBody>
      </p:sp>
      <p:sp>
        <p:nvSpPr>
          <p:cNvPr id="35" name="Text 33"/>
          <p:cNvSpPr/>
          <p:nvPr/>
        </p:nvSpPr>
        <p:spPr>
          <a:xfrm>
            <a:off x="3511296" y="406908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6</a:t>
            </a:r>
            <a:endParaRPr lang="en-US" sz="1400" dirty="0"/>
          </a:p>
        </p:txBody>
      </p:sp>
      <p:sp>
        <p:nvSpPr>
          <p:cNvPr id="36" name="Text 34"/>
          <p:cNvSpPr/>
          <p:nvPr/>
        </p:nvSpPr>
        <p:spPr>
          <a:xfrm>
            <a:off x="3511296" y="457200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Security Analytics</a:t>
            </a:r>
            <a:endParaRPr lang="en-US" sz="1350" dirty="0"/>
          </a:p>
        </p:txBody>
      </p:sp>
      <p:sp>
        <p:nvSpPr>
          <p:cNvPr id="37" name="Text 35"/>
          <p:cNvSpPr/>
          <p:nvPr/>
        </p:nvSpPr>
        <p:spPr>
          <a:xfrm>
            <a:off x="3511296" y="500176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Monitors behavior and feeds risk signals back in</a:t>
            </a:r>
            <a:endParaRPr lang="en-US" sz="1050" dirty="0"/>
          </a:p>
        </p:txBody>
      </p:sp>
      <p:sp>
        <p:nvSpPr>
          <p:cNvPr id="38" name="Shape 36"/>
          <p:cNvSpPr/>
          <p:nvPr/>
        </p:nvSpPr>
        <p:spPr>
          <a:xfrm>
            <a:off x="6108192" y="388620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39" name="Shape 37"/>
          <p:cNvSpPr/>
          <p:nvPr/>
        </p:nvSpPr>
        <p:spPr>
          <a:xfrm>
            <a:off x="6291072" y="4069080"/>
            <a:ext cx="384048" cy="384048"/>
          </a:xfrm>
          <a:prstGeom prst="roundRect">
            <a:avLst>
              <a:gd name="adj" fmla="val 19048"/>
            </a:avLst>
          </a:prstGeom>
          <a:solidFill>
            <a:srgbClr val="00E0C6"/>
          </a:solidFill>
          <a:ln/>
        </p:spPr>
        <p:txBody>
          <a:bodyPr/>
          <a:lstStyle/>
          <a:p>
            <a:endParaRPr lang="en-IN"/>
          </a:p>
        </p:txBody>
      </p:sp>
      <p:sp>
        <p:nvSpPr>
          <p:cNvPr id="40" name="Text 38"/>
          <p:cNvSpPr/>
          <p:nvPr/>
        </p:nvSpPr>
        <p:spPr>
          <a:xfrm>
            <a:off x="6291072" y="406908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7</a:t>
            </a:r>
            <a:endParaRPr lang="en-US" sz="1400" dirty="0"/>
          </a:p>
        </p:txBody>
      </p:sp>
      <p:sp>
        <p:nvSpPr>
          <p:cNvPr id="41" name="Text 39"/>
          <p:cNvSpPr/>
          <p:nvPr/>
        </p:nvSpPr>
        <p:spPr>
          <a:xfrm>
            <a:off x="6291072" y="457200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Applications</a:t>
            </a:r>
            <a:endParaRPr lang="en-US" sz="1350" dirty="0"/>
          </a:p>
        </p:txBody>
      </p:sp>
      <p:sp>
        <p:nvSpPr>
          <p:cNvPr id="42" name="Text 40"/>
          <p:cNvSpPr/>
          <p:nvPr/>
        </p:nvSpPr>
        <p:spPr>
          <a:xfrm>
            <a:off x="6291072" y="500176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The protected resources being accessed</a:t>
            </a:r>
            <a:endParaRPr lang="en-US" sz="1050" dirty="0"/>
          </a:p>
        </p:txBody>
      </p:sp>
      <p:sp>
        <p:nvSpPr>
          <p:cNvPr id="43" name="Shape 41"/>
          <p:cNvSpPr/>
          <p:nvPr/>
        </p:nvSpPr>
        <p:spPr>
          <a:xfrm>
            <a:off x="8887968" y="3886200"/>
            <a:ext cx="2633472" cy="1965960"/>
          </a:xfrm>
          <a:prstGeom prst="roundRect">
            <a:avLst>
              <a:gd name="adj" fmla="val 3721"/>
            </a:avLst>
          </a:prstGeom>
          <a:solidFill>
            <a:srgbClr val="121A2E"/>
          </a:solidFill>
          <a:ln w="12700">
            <a:solidFill>
              <a:srgbClr val="26314F"/>
            </a:solidFill>
            <a:prstDash val="solid"/>
          </a:ln>
        </p:spPr>
        <p:txBody>
          <a:bodyPr/>
          <a:lstStyle/>
          <a:p>
            <a:endParaRPr lang="en-IN"/>
          </a:p>
        </p:txBody>
      </p:sp>
      <p:sp>
        <p:nvSpPr>
          <p:cNvPr id="44" name="Shape 42"/>
          <p:cNvSpPr/>
          <p:nvPr/>
        </p:nvSpPr>
        <p:spPr>
          <a:xfrm>
            <a:off x="9070848" y="4069080"/>
            <a:ext cx="384048" cy="384048"/>
          </a:xfrm>
          <a:prstGeom prst="roundRect">
            <a:avLst>
              <a:gd name="adj" fmla="val 19048"/>
            </a:avLst>
          </a:prstGeom>
          <a:solidFill>
            <a:srgbClr val="00E0C6"/>
          </a:solidFill>
          <a:ln/>
        </p:spPr>
        <p:txBody>
          <a:bodyPr/>
          <a:lstStyle/>
          <a:p>
            <a:endParaRPr lang="en-IN"/>
          </a:p>
        </p:txBody>
      </p:sp>
      <p:sp>
        <p:nvSpPr>
          <p:cNvPr id="45" name="Text 43"/>
          <p:cNvSpPr/>
          <p:nvPr/>
        </p:nvSpPr>
        <p:spPr>
          <a:xfrm>
            <a:off x="9070848" y="4069080"/>
            <a:ext cx="384048" cy="384048"/>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8</a:t>
            </a:r>
            <a:endParaRPr lang="en-US" sz="1400" dirty="0"/>
          </a:p>
        </p:txBody>
      </p:sp>
      <p:sp>
        <p:nvSpPr>
          <p:cNvPr id="46" name="Text 44"/>
          <p:cNvSpPr/>
          <p:nvPr/>
        </p:nvSpPr>
        <p:spPr>
          <a:xfrm>
            <a:off x="9070848" y="4572000"/>
            <a:ext cx="2267712"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Data</a:t>
            </a:r>
            <a:endParaRPr lang="en-US" sz="1350" dirty="0"/>
          </a:p>
        </p:txBody>
      </p:sp>
      <p:sp>
        <p:nvSpPr>
          <p:cNvPr id="47" name="Text 45"/>
          <p:cNvSpPr/>
          <p:nvPr/>
        </p:nvSpPr>
        <p:spPr>
          <a:xfrm>
            <a:off x="9070848" y="5001768"/>
            <a:ext cx="2267712" cy="777240"/>
          </a:xfrm>
          <a:prstGeom prst="rect">
            <a:avLst/>
          </a:prstGeom>
          <a:noFill/>
          <a:ln/>
        </p:spPr>
        <p:txBody>
          <a:bodyPr wrap="square" rtlCol="0" anchor="t"/>
          <a:lstStyle/>
          <a:p>
            <a:pPr marL="0" indent="0">
              <a:buNone/>
            </a:pPr>
            <a:r>
              <a:rPr lang="en-US" sz="1050" dirty="0">
                <a:solidFill>
                  <a:srgbClr val="9FB0CE"/>
                </a:solidFill>
                <a:latin typeface="Calibri" pitchFamily="34" charset="0"/>
                <a:ea typeface="Calibri" pitchFamily="34" charset="-122"/>
                <a:cs typeface="Calibri" pitchFamily="34" charset="-120"/>
              </a:rPr>
              <a:t>Classified and protected based on sensitivity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IDENTITY</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Identity Is the New Perimeter</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~1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09 / 25</a:t>
            </a:r>
            <a:endParaRPr lang="en-US" sz="900" dirty="0"/>
          </a:p>
        </p:txBody>
      </p:sp>
      <p:sp>
        <p:nvSpPr>
          <p:cNvPr id="8" name="Text 6"/>
          <p:cNvSpPr/>
          <p:nvPr/>
        </p:nvSpPr>
        <p:spPr>
          <a:xfrm>
            <a:off x="548640" y="1737360"/>
            <a:ext cx="5486400" cy="4114800"/>
          </a:xfrm>
          <a:prstGeom prst="rect">
            <a:avLst/>
          </a:prstGeom>
          <a:noFill/>
          <a:ln/>
        </p:spPr>
        <p:txBody>
          <a:bodyPr wrap="square" rtlCol="0" anchor="t"/>
          <a:lstStyle/>
          <a:p>
            <a:pPr marL="228600" indent="-228600">
              <a:lnSpc>
                <a:spcPct val="115000"/>
              </a:lnSpc>
              <a:spcAft>
                <a:spcPts val="900"/>
              </a:spcAft>
              <a:buSzPct val="100000"/>
              <a:buChar char="▪"/>
            </a:pPr>
            <a:r>
              <a:rPr lang="en-US" sz="1400" dirty="0">
                <a:solidFill>
                  <a:srgbClr val="9FB0CE"/>
                </a:solidFill>
                <a:latin typeface="Calibri" pitchFamily="34" charset="0"/>
                <a:ea typeface="Calibri" pitchFamily="34" charset="-122"/>
                <a:cs typeface="Calibri" pitchFamily="34" charset="-120"/>
              </a:rPr>
              <a:t>User identity is the primary control point</a:t>
            </a:r>
            <a:endParaRPr lang="en-US" sz="1400" dirty="0"/>
          </a:p>
          <a:p>
            <a:pPr marL="228600" indent="-228600">
              <a:lnSpc>
                <a:spcPct val="115000"/>
              </a:lnSpc>
              <a:spcAft>
                <a:spcPts val="900"/>
              </a:spcAft>
              <a:buSzPct val="100000"/>
              <a:buChar char="▪"/>
            </a:pPr>
            <a:r>
              <a:rPr lang="en-US" sz="1400" dirty="0">
                <a:solidFill>
                  <a:srgbClr val="9FB0CE"/>
                </a:solidFill>
                <a:latin typeface="Calibri" pitchFamily="34" charset="0"/>
                <a:ea typeface="Calibri" pitchFamily="34" charset="-122"/>
                <a:cs typeface="Calibri" pitchFamily="34" charset="-120"/>
              </a:rPr>
              <a:t>Strong authentication confirms who is asking</a:t>
            </a:r>
            <a:endParaRPr lang="en-US" sz="1400" dirty="0"/>
          </a:p>
          <a:p>
            <a:pPr marL="228600" indent="-228600">
              <a:lnSpc>
                <a:spcPct val="115000"/>
              </a:lnSpc>
              <a:spcAft>
                <a:spcPts val="900"/>
              </a:spcAft>
              <a:buSzPct val="100000"/>
              <a:buChar char="▪"/>
            </a:pPr>
            <a:r>
              <a:rPr lang="en-US" sz="1400" dirty="0">
                <a:solidFill>
                  <a:srgbClr val="9FB0CE"/>
                </a:solidFill>
                <a:latin typeface="Calibri" pitchFamily="34" charset="0"/>
                <a:ea typeface="Calibri" pitchFamily="34" charset="-122"/>
                <a:cs typeface="Calibri" pitchFamily="34" charset="-120"/>
              </a:rPr>
              <a:t>MFA adds a second layer beyond passwords</a:t>
            </a:r>
            <a:endParaRPr lang="en-US" sz="1400" dirty="0"/>
          </a:p>
          <a:p>
            <a:pPr marL="228600" indent="-228600">
              <a:lnSpc>
                <a:spcPct val="115000"/>
              </a:lnSpc>
              <a:spcAft>
                <a:spcPts val="900"/>
              </a:spcAft>
              <a:buSzPct val="100000"/>
              <a:buChar char="▪"/>
            </a:pPr>
            <a:r>
              <a:rPr lang="en-US" sz="1400" dirty="0">
                <a:solidFill>
                  <a:srgbClr val="9FB0CE"/>
                </a:solidFill>
                <a:latin typeface="Calibri" pitchFamily="34" charset="0"/>
                <a:ea typeface="Calibri" pitchFamily="34" charset="-122"/>
                <a:cs typeface="Calibri" pitchFamily="34" charset="-120"/>
              </a:rPr>
              <a:t>SSO simplifies secure access across apps</a:t>
            </a:r>
            <a:endParaRPr lang="en-US" sz="1400" dirty="0"/>
          </a:p>
          <a:p>
            <a:pPr marL="228600" indent="-228600">
              <a:lnSpc>
                <a:spcPct val="115000"/>
              </a:lnSpc>
              <a:spcAft>
                <a:spcPts val="900"/>
              </a:spcAft>
              <a:buSzPct val="100000"/>
              <a:buChar char="▪"/>
            </a:pPr>
            <a:r>
              <a:rPr lang="en-US" sz="1400" dirty="0">
                <a:solidFill>
                  <a:srgbClr val="9FB0CE"/>
                </a:solidFill>
                <a:latin typeface="Calibri" pitchFamily="34" charset="0"/>
                <a:ea typeface="Calibri" pitchFamily="34" charset="-122"/>
                <a:cs typeface="Calibri" pitchFamily="34" charset="-120"/>
              </a:rPr>
              <a:t>IAM governs accounts, roles, and permissions</a:t>
            </a:r>
            <a:endParaRPr lang="en-US" sz="1400" dirty="0"/>
          </a:p>
          <a:p>
            <a:pPr marL="228600" indent="-228600">
              <a:lnSpc>
                <a:spcPct val="115000"/>
              </a:lnSpc>
              <a:spcAft>
                <a:spcPts val="900"/>
              </a:spcAft>
              <a:buSzPct val="100000"/>
              <a:buChar char="▪"/>
            </a:pPr>
            <a:r>
              <a:rPr lang="en-US" sz="1400" dirty="0">
                <a:solidFill>
                  <a:srgbClr val="9FB0CE"/>
                </a:solidFill>
                <a:latin typeface="Calibri" pitchFamily="34" charset="0"/>
                <a:ea typeface="Calibri" pitchFamily="34" charset="-122"/>
                <a:cs typeface="Calibri" pitchFamily="34" charset="-120"/>
              </a:rPr>
              <a:t>Risk-based authentication adapts to context</a:t>
            </a:r>
            <a:endParaRPr lang="en-US" sz="1400" dirty="0"/>
          </a:p>
          <a:p>
            <a:pPr marL="228600" indent="-228600">
              <a:lnSpc>
                <a:spcPct val="115000"/>
              </a:lnSpc>
              <a:spcAft>
                <a:spcPts val="900"/>
              </a:spcAft>
              <a:buSzPct val="100000"/>
              <a:buChar char="▪"/>
            </a:pPr>
            <a:r>
              <a:rPr lang="en-US" sz="1400" dirty="0">
                <a:solidFill>
                  <a:srgbClr val="9FB0CE"/>
                </a:solidFill>
                <a:latin typeface="Calibri" pitchFamily="34" charset="0"/>
                <a:ea typeface="Calibri" pitchFamily="34" charset="-122"/>
                <a:cs typeface="Calibri" pitchFamily="34" charset="-120"/>
              </a:rPr>
              <a:t>Privileged identities need extra scrutiny</a:t>
            </a:r>
            <a:endParaRPr lang="en-US" sz="1400" dirty="0"/>
          </a:p>
        </p:txBody>
      </p:sp>
      <p:sp>
        <p:nvSpPr>
          <p:cNvPr id="9" name="Shape 7"/>
          <p:cNvSpPr/>
          <p:nvPr/>
        </p:nvSpPr>
        <p:spPr>
          <a:xfrm>
            <a:off x="6400800" y="1737360"/>
            <a:ext cx="5257800" cy="4251960"/>
          </a:xfrm>
          <a:prstGeom prst="roundRect">
            <a:avLst>
              <a:gd name="adj" fmla="val 1720"/>
            </a:avLst>
          </a:prstGeom>
          <a:solidFill>
            <a:srgbClr val="121A2E"/>
          </a:solidFill>
          <a:ln w="12700">
            <a:solidFill>
              <a:srgbClr val="26314F"/>
            </a:solidFill>
            <a:prstDash val="solid"/>
          </a:ln>
        </p:spPr>
        <p:txBody>
          <a:bodyPr/>
          <a:lstStyle/>
          <a:p>
            <a:endParaRPr lang="en-IN"/>
          </a:p>
        </p:txBody>
      </p:sp>
      <p:sp>
        <p:nvSpPr>
          <p:cNvPr id="10" name="Shape 8"/>
          <p:cNvSpPr/>
          <p:nvPr/>
        </p:nvSpPr>
        <p:spPr>
          <a:xfrm>
            <a:off x="6720840" y="2011680"/>
            <a:ext cx="502920" cy="502920"/>
          </a:xfrm>
          <a:prstGeom prst="ellipse">
            <a:avLst/>
          </a:prstGeom>
          <a:solidFill>
            <a:srgbClr val="FFC24B"/>
          </a:solidFill>
          <a:ln/>
        </p:spPr>
        <p:txBody>
          <a:bodyPr/>
          <a:lstStyle/>
          <a:p>
            <a:endParaRPr lang="en-IN"/>
          </a:p>
        </p:txBody>
      </p:sp>
      <p:sp>
        <p:nvSpPr>
          <p:cNvPr id="11" name="Text 9"/>
          <p:cNvSpPr/>
          <p:nvPr/>
        </p:nvSpPr>
        <p:spPr>
          <a:xfrm>
            <a:off x="6720840" y="2011680"/>
            <a:ext cx="502920" cy="502920"/>
          </a:xfrm>
          <a:prstGeom prst="rect">
            <a:avLst/>
          </a:prstGeom>
          <a:noFill/>
          <a:ln/>
        </p:spPr>
        <p:txBody>
          <a:bodyPr wrap="square" rtlCol="0" anchor="ctr"/>
          <a:lstStyle/>
          <a:p>
            <a:pPr marL="0" indent="0" algn="ctr">
              <a:buNone/>
            </a:pPr>
            <a:r>
              <a:rPr lang="en-US" sz="2200" b="1" dirty="0">
                <a:solidFill>
                  <a:srgbClr val="0A0E1A"/>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7360920" y="2057400"/>
            <a:ext cx="411480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Real-World Example</a:t>
            </a:r>
            <a:endParaRPr lang="en-US" sz="1500" dirty="0"/>
          </a:p>
        </p:txBody>
      </p:sp>
      <p:sp>
        <p:nvSpPr>
          <p:cNvPr id="13" name="Text 11"/>
          <p:cNvSpPr/>
          <p:nvPr/>
        </p:nvSpPr>
        <p:spPr>
          <a:xfrm>
            <a:off x="6720840" y="2697480"/>
            <a:ext cx="4663440" cy="914400"/>
          </a:xfrm>
          <a:prstGeom prst="rect">
            <a:avLst/>
          </a:prstGeom>
          <a:noFill/>
          <a:ln/>
        </p:spPr>
        <p:txBody>
          <a:bodyPr wrap="square" rtlCol="0" anchor="ctr"/>
          <a:lstStyle/>
          <a:p>
            <a:pPr marL="0" indent="0">
              <a:buNone/>
            </a:pPr>
            <a:r>
              <a:rPr lang="en-US" sz="1300" i="1" dirty="0">
                <a:solidFill>
                  <a:srgbClr val="9FB0CE"/>
                </a:solidFill>
                <a:latin typeface="Calibri" pitchFamily="34" charset="0"/>
                <a:ea typeface="Calibri" pitchFamily="34" charset="-122"/>
                <a:cs typeface="Calibri" pitchFamily="34" charset="-120"/>
              </a:rPr>
              <a:t>An employee logs in from a device that has never been seen before, from a country they have never traveled to.</a:t>
            </a:r>
            <a:endParaRPr lang="en-US" sz="1300" dirty="0"/>
          </a:p>
        </p:txBody>
      </p:sp>
      <p:sp>
        <p:nvSpPr>
          <p:cNvPr id="14" name="Shape 12"/>
          <p:cNvSpPr/>
          <p:nvPr/>
        </p:nvSpPr>
        <p:spPr>
          <a:xfrm>
            <a:off x="6720840" y="3703320"/>
            <a:ext cx="4663440" cy="0"/>
          </a:xfrm>
          <a:prstGeom prst="line">
            <a:avLst/>
          </a:prstGeom>
          <a:noFill/>
          <a:ln w="9525">
            <a:solidFill>
              <a:srgbClr val="26314F"/>
            </a:solidFill>
            <a:prstDash val="solid"/>
          </a:ln>
        </p:spPr>
        <p:txBody>
          <a:bodyPr/>
          <a:lstStyle/>
          <a:p>
            <a:endParaRPr lang="en-IN"/>
          </a:p>
        </p:txBody>
      </p:sp>
      <p:sp>
        <p:nvSpPr>
          <p:cNvPr id="15" name="Shape 13"/>
          <p:cNvSpPr/>
          <p:nvPr/>
        </p:nvSpPr>
        <p:spPr>
          <a:xfrm>
            <a:off x="6720840" y="3977640"/>
            <a:ext cx="146304" cy="146304"/>
          </a:xfrm>
          <a:prstGeom prst="ellipse">
            <a:avLst/>
          </a:prstGeom>
          <a:solidFill>
            <a:srgbClr val="FF5A6E"/>
          </a:solidFill>
          <a:ln/>
        </p:spPr>
        <p:txBody>
          <a:bodyPr/>
          <a:lstStyle/>
          <a:p>
            <a:endParaRPr lang="en-IN"/>
          </a:p>
        </p:txBody>
      </p:sp>
      <p:sp>
        <p:nvSpPr>
          <p:cNvPr id="16" name="Text 14"/>
          <p:cNvSpPr/>
          <p:nvPr/>
        </p:nvSpPr>
        <p:spPr>
          <a:xfrm>
            <a:off x="6995160" y="3931920"/>
            <a:ext cx="41148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Traditional model</a:t>
            </a:r>
            <a:endParaRPr lang="en-US" sz="1250" dirty="0"/>
          </a:p>
        </p:txBody>
      </p:sp>
      <p:sp>
        <p:nvSpPr>
          <p:cNvPr id="17" name="Text 15"/>
          <p:cNvSpPr/>
          <p:nvPr/>
        </p:nvSpPr>
        <p:spPr>
          <a:xfrm>
            <a:off x="6995160" y="4224528"/>
            <a:ext cx="4206240" cy="457200"/>
          </a:xfrm>
          <a:prstGeom prst="rect">
            <a:avLst/>
          </a:prstGeom>
          <a:noFill/>
          <a:ln/>
        </p:spPr>
        <p:txBody>
          <a:bodyPr wrap="square" rtlCol="0" anchor="ctr"/>
          <a:lstStyle/>
          <a:p>
            <a:pPr marL="0" indent="0">
              <a:buNone/>
            </a:pPr>
            <a:r>
              <a:rPr lang="en-US" sz="1150" dirty="0">
                <a:solidFill>
                  <a:srgbClr val="9FB0CE"/>
                </a:solidFill>
                <a:latin typeface="Calibri" pitchFamily="34" charset="0"/>
                <a:ea typeface="Calibri" pitchFamily="34" charset="-122"/>
                <a:cs typeface="Calibri" pitchFamily="34" charset="-120"/>
              </a:rPr>
              <a:t>Access likely allowed once password is correct</a:t>
            </a:r>
            <a:endParaRPr lang="en-US" sz="1150" dirty="0"/>
          </a:p>
        </p:txBody>
      </p:sp>
      <p:sp>
        <p:nvSpPr>
          <p:cNvPr id="18" name="Shape 16"/>
          <p:cNvSpPr/>
          <p:nvPr/>
        </p:nvSpPr>
        <p:spPr>
          <a:xfrm>
            <a:off x="6720840" y="4892040"/>
            <a:ext cx="146304" cy="146304"/>
          </a:xfrm>
          <a:prstGeom prst="ellipse">
            <a:avLst/>
          </a:prstGeom>
          <a:solidFill>
            <a:srgbClr val="4ADE80"/>
          </a:solidFill>
          <a:ln/>
        </p:spPr>
        <p:txBody>
          <a:bodyPr/>
          <a:lstStyle/>
          <a:p>
            <a:endParaRPr lang="en-IN"/>
          </a:p>
        </p:txBody>
      </p:sp>
      <p:sp>
        <p:nvSpPr>
          <p:cNvPr id="19" name="Text 17"/>
          <p:cNvSpPr/>
          <p:nvPr/>
        </p:nvSpPr>
        <p:spPr>
          <a:xfrm>
            <a:off x="6995160" y="4846320"/>
            <a:ext cx="41148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Zero Trust model</a:t>
            </a:r>
            <a:endParaRPr lang="en-US" sz="1250" dirty="0"/>
          </a:p>
        </p:txBody>
      </p:sp>
      <p:sp>
        <p:nvSpPr>
          <p:cNvPr id="20" name="Text 18"/>
          <p:cNvSpPr/>
          <p:nvPr/>
        </p:nvSpPr>
        <p:spPr>
          <a:xfrm>
            <a:off x="6995160" y="5138928"/>
            <a:ext cx="4206240" cy="457200"/>
          </a:xfrm>
          <a:prstGeom prst="rect">
            <a:avLst/>
          </a:prstGeom>
          <a:noFill/>
          <a:ln/>
        </p:spPr>
        <p:txBody>
          <a:bodyPr wrap="square" rtlCol="0" anchor="ctr"/>
          <a:lstStyle/>
          <a:p>
            <a:pPr marL="0" indent="0">
              <a:buNone/>
            </a:pPr>
            <a:r>
              <a:rPr lang="en-US" sz="1150" dirty="0">
                <a:solidFill>
                  <a:srgbClr val="9FB0CE"/>
                </a:solidFill>
                <a:latin typeface="Calibri" pitchFamily="34" charset="0"/>
                <a:ea typeface="Calibri" pitchFamily="34" charset="-122"/>
                <a:cs typeface="Calibri" pitchFamily="34" charset="-120"/>
              </a:rPr>
              <a:t>Risk score rises → step-up MFA is triggered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E0C6"/>
                </a:solidFill>
                <a:latin typeface="Calibri" pitchFamily="34" charset="0"/>
                <a:ea typeface="Calibri" pitchFamily="34" charset="-122"/>
                <a:cs typeface="Calibri" pitchFamily="34" charset="-120"/>
              </a:rPr>
              <a:t>IDENTITY</a:t>
            </a:r>
            <a:endParaRPr lang="en-US" sz="1200" dirty="0"/>
          </a:p>
        </p:txBody>
      </p:sp>
      <p:sp>
        <p:nvSpPr>
          <p:cNvPr id="3" name="Text 1"/>
          <p:cNvSpPr/>
          <p:nvPr/>
        </p:nvSpPr>
        <p:spPr>
          <a:xfrm>
            <a:off x="548640" y="658368"/>
            <a:ext cx="10607040" cy="73152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Authentication vs. Authorization</a:t>
            </a:r>
            <a:endParaRPr lang="en-US" sz="3200" dirty="0"/>
          </a:p>
        </p:txBody>
      </p:sp>
      <p:sp>
        <p:nvSpPr>
          <p:cNvPr id="4" name="Shape 2"/>
          <p:cNvSpPr/>
          <p:nvPr/>
        </p:nvSpPr>
        <p:spPr>
          <a:xfrm>
            <a:off x="457200" y="6473952"/>
            <a:ext cx="11274552" cy="0"/>
          </a:xfrm>
          <a:prstGeom prst="line">
            <a:avLst/>
          </a:prstGeom>
          <a:noFill/>
          <a:ln w="9525">
            <a:solidFill>
              <a:srgbClr val="26314F"/>
            </a:solidFill>
            <a:prstDash val="solid"/>
          </a:ln>
        </p:spPr>
        <p:txBody>
          <a:bodyPr/>
          <a:lstStyle/>
          <a:p>
            <a:endParaRPr lang="en-IN"/>
          </a:p>
        </p:txBody>
      </p:sp>
      <p:sp>
        <p:nvSpPr>
          <p:cNvPr id="5" name="Text 3"/>
          <p:cNvSpPr/>
          <p:nvPr/>
        </p:nvSpPr>
        <p:spPr>
          <a:xfrm>
            <a:off x="457200" y="6519672"/>
            <a:ext cx="4572000" cy="274320"/>
          </a:xfrm>
          <a:prstGeom prst="rect">
            <a:avLst/>
          </a:prstGeom>
          <a:noFill/>
          <a:ln/>
        </p:spPr>
        <p:txBody>
          <a:bodyPr wrap="square" rtlCol="0" anchor="ctr"/>
          <a:lstStyle/>
          <a:p>
            <a:pPr marL="0" indent="0" algn="l">
              <a:buNone/>
            </a:pPr>
            <a:r>
              <a:rPr lang="en-US" sz="900" kern="0" spc="100" dirty="0">
                <a:solidFill>
                  <a:srgbClr val="5E6E8F"/>
                </a:solidFill>
                <a:latin typeface="Calibri" pitchFamily="34" charset="0"/>
                <a:ea typeface="Calibri" pitchFamily="34" charset="-122"/>
                <a:cs typeface="Calibri" pitchFamily="34" charset="-120"/>
              </a:rPr>
              <a:t>ZERO TRUST MANAGEMENT</a:t>
            </a:r>
            <a:endParaRPr lang="en-US" sz="900" dirty="0"/>
          </a:p>
        </p:txBody>
      </p:sp>
      <p:sp>
        <p:nvSpPr>
          <p:cNvPr id="6" name="Text 4"/>
          <p:cNvSpPr/>
          <p:nvPr/>
        </p:nvSpPr>
        <p:spPr>
          <a:xfrm>
            <a:off x="8988552" y="6519672"/>
            <a:ext cx="1828800" cy="274320"/>
          </a:xfrm>
          <a:prstGeom prst="rect">
            <a:avLst/>
          </a:prstGeom>
          <a:noFill/>
          <a:ln/>
        </p:spPr>
        <p:txBody>
          <a:bodyPr wrap="square" rtlCol="0" anchor="ctr"/>
          <a:lstStyle/>
          <a:p>
            <a:pPr marL="0" indent="0" algn="r">
              <a:buNone/>
            </a:pPr>
            <a:r>
              <a:rPr lang="en-US" sz="900" dirty="0">
                <a:solidFill>
                  <a:srgbClr val="00E0C6"/>
                </a:solidFill>
                <a:latin typeface="Calibri" pitchFamily="34" charset="0"/>
                <a:ea typeface="Calibri" pitchFamily="34" charset="-122"/>
                <a:cs typeface="Calibri" pitchFamily="34" charset="-120"/>
              </a:rPr>
              <a:t>~2 min</a:t>
            </a:r>
            <a:endParaRPr lang="en-US" sz="900" dirty="0"/>
          </a:p>
        </p:txBody>
      </p:sp>
      <p:sp>
        <p:nvSpPr>
          <p:cNvPr id="7" name="Text 5"/>
          <p:cNvSpPr/>
          <p:nvPr/>
        </p:nvSpPr>
        <p:spPr>
          <a:xfrm>
            <a:off x="10908792" y="6519672"/>
            <a:ext cx="822960" cy="274320"/>
          </a:xfrm>
          <a:prstGeom prst="rect">
            <a:avLst/>
          </a:prstGeom>
          <a:noFill/>
          <a:ln/>
        </p:spPr>
        <p:txBody>
          <a:bodyPr wrap="square" rtlCol="0" anchor="ctr"/>
          <a:lstStyle/>
          <a:p>
            <a:pPr marL="0" indent="0" algn="r">
              <a:buNone/>
            </a:pPr>
            <a:r>
              <a:rPr lang="en-US" sz="900" dirty="0">
                <a:solidFill>
                  <a:srgbClr val="5E6E8F"/>
                </a:solidFill>
                <a:latin typeface="Calibri" pitchFamily="34" charset="0"/>
                <a:ea typeface="Calibri" pitchFamily="34" charset="-122"/>
                <a:cs typeface="Calibri" pitchFamily="34" charset="-120"/>
              </a:rPr>
              <a:t>10 / 25</a:t>
            </a:r>
            <a:endParaRPr lang="en-US" sz="900" dirty="0"/>
          </a:p>
        </p:txBody>
      </p:sp>
      <p:sp>
        <p:nvSpPr>
          <p:cNvPr id="8" name="Shape 6"/>
          <p:cNvSpPr/>
          <p:nvPr/>
        </p:nvSpPr>
        <p:spPr>
          <a:xfrm>
            <a:off x="548640" y="1737360"/>
            <a:ext cx="5120640" cy="2103120"/>
          </a:xfrm>
          <a:prstGeom prst="roundRect">
            <a:avLst>
              <a:gd name="adj" fmla="val 3478"/>
            </a:avLst>
          </a:prstGeom>
          <a:solidFill>
            <a:srgbClr val="121A2E"/>
          </a:solidFill>
          <a:ln w="12700">
            <a:solidFill>
              <a:srgbClr val="26314F"/>
            </a:solidFill>
            <a:prstDash val="solid"/>
          </a:ln>
        </p:spPr>
        <p:txBody>
          <a:bodyPr/>
          <a:lstStyle/>
          <a:p>
            <a:endParaRPr lang="en-IN"/>
          </a:p>
        </p:txBody>
      </p:sp>
      <p:sp>
        <p:nvSpPr>
          <p:cNvPr id="9" name="Text 7"/>
          <p:cNvSpPr/>
          <p:nvPr/>
        </p:nvSpPr>
        <p:spPr>
          <a:xfrm>
            <a:off x="822960" y="1920240"/>
            <a:ext cx="4572000" cy="320040"/>
          </a:xfrm>
          <a:prstGeom prst="rect">
            <a:avLst/>
          </a:prstGeom>
          <a:noFill/>
          <a:ln/>
        </p:spPr>
        <p:txBody>
          <a:bodyPr wrap="square" rtlCol="0" anchor="ctr"/>
          <a:lstStyle/>
          <a:p>
            <a:pPr marL="0" indent="0">
              <a:buNone/>
            </a:pPr>
            <a:r>
              <a:rPr lang="en-US" sz="1200" b="1" kern="0" spc="150" dirty="0">
                <a:solidFill>
                  <a:srgbClr val="00E0C6"/>
                </a:solidFill>
                <a:latin typeface="Calibri" pitchFamily="34" charset="0"/>
                <a:ea typeface="Calibri" pitchFamily="34" charset="-122"/>
                <a:cs typeface="Calibri" pitchFamily="34" charset="-120"/>
              </a:rPr>
              <a:t>AUTHENTICATION</a:t>
            </a:r>
            <a:endParaRPr lang="en-US" sz="1200" dirty="0"/>
          </a:p>
        </p:txBody>
      </p:sp>
      <p:sp>
        <p:nvSpPr>
          <p:cNvPr id="10" name="Text 8"/>
          <p:cNvSpPr/>
          <p:nvPr/>
        </p:nvSpPr>
        <p:spPr>
          <a:xfrm>
            <a:off x="822960" y="2286000"/>
            <a:ext cx="457200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“Who are you?”</a:t>
            </a:r>
            <a:endParaRPr lang="en-US" sz="2000" dirty="0"/>
          </a:p>
        </p:txBody>
      </p:sp>
      <p:sp>
        <p:nvSpPr>
          <p:cNvPr id="11" name="Text 9"/>
          <p:cNvSpPr/>
          <p:nvPr/>
        </p:nvSpPr>
        <p:spPr>
          <a:xfrm>
            <a:off x="822960" y="2880360"/>
            <a:ext cx="4572000" cy="731520"/>
          </a:xfrm>
          <a:prstGeom prst="rect">
            <a:avLst/>
          </a:prstGeom>
          <a:noFill/>
          <a:ln/>
        </p:spPr>
        <p:txBody>
          <a:bodyPr wrap="square" rtlCol="0" anchor="ctr"/>
          <a:lstStyle/>
          <a:p>
            <a:pPr marL="0" indent="0">
              <a:buNone/>
            </a:pPr>
            <a:r>
              <a:rPr lang="en-US" sz="1250" dirty="0">
                <a:solidFill>
                  <a:srgbClr val="9FB0CE"/>
                </a:solidFill>
                <a:latin typeface="Calibri" pitchFamily="34" charset="0"/>
                <a:ea typeface="Calibri" pitchFamily="34" charset="-122"/>
                <a:cs typeface="Calibri" pitchFamily="34" charset="-120"/>
              </a:rPr>
              <a:t>Username/password, MFA, biometrics — proving your identity.</a:t>
            </a:r>
            <a:endParaRPr lang="en-US" sz="1250" dirty="0"/>
          </a:p>
        </p:txBody>
      </p:sp>
      <p:sp>
        <p:nvSpPr>
          <p:cNvPr id="12" name="Shape 10"/>
          <p:cNvSpPr/>
          <p:nvPr/>
        </p:nvSpPr>
        <p:spPr>
          <a:xfrm>
            <a:off x="6035040" y="1737360"/>
            <a:ext cx="5120640" cy="2103120"/>
          </a:xfrm>
          <a:prstGeom prst="roundRect">
            <a:avLst>
              <a:gd name="adj" fmla="val 3478"/>
            </a:avLst>
          </a:prstGeom>
          <a:solidFill>
            <a:srgbClr val="121A2E"/>
          </a:solidFill>
          <a:ln w="12700">
            <a:solidFill>
              <a:srgbClr val="26314F"/>
            </a:solidFill>
            <a:prstDash val="solid"/>
          </a:ln>
        </p:spPr>
        <p:txBody>
          <a:bodyPr/>
          <a:lstStyle/>
          <a:p>
            <a:endParaRPr lang="en-IN"/>
          </a:p>
        </p:txBody>
      </p:sp>
      <p:sp>
        <p:nvSpPr>
          <p:cNvPr id="13" name="Text 11"/>
          <p:cNvSpPr/>
          <p:nvPr/>
        </p:nvSpPr>
        <p:spPr>
          <a:xfrm>
            <a:off x="6309360" y="1920240"/>
            <a:ext cx="4572000" cy="320040"/>
          </a:xfrm>
          <a:prstGeom prst="rect">
            <a:avLst/>
          </a:prstGeom>
          <a:noFill/>
          <a:ln/>
        </p:spPr>
        <p:txBody>
          <a:bodyPr wrap="square" rtlCol="0" anchor="ctr"/>
          <a:lstStyle/>
          <a:p>
            <a:pPr marL="0" indent="0">
              <a:buNone/>
            </a:pPr>
            <a:r>
              <a:rPr lang="en-US" sz="1200" b="1" kern="0" spc="150" dirty="0">
                <a:solidFill>
                  <a:srgbClr val="3D8BFF"/>
                </a:solidFill>
                <a:latin typeface="Calibri" pitchFamily="34" charset="0"/>
                <a:ea typeface="Calibri" pitchFamily="34" charset="-122"/>
                <a:cs typeface="Calibri" pitchFamily="34" charset="-120"/>
              </a:rPr>
              <a:t>AUTHORIZATION</a:t>
            </a:r>
            <a:endParaRPr lang="en-US" sz="1200" dirty="0"/>
          </a:p>
        </p:txBody>
      </p:sp>
      <p:sp>
        <p:nvSpPr>
          <p:cNvPr id="14" name="Text 12"/>
          <p:cNvSpPr/>
          <p:nvPr/>
        </p:nvSpPr>
        <p:spPr>
          <a:xfrm>
            <a:off x="6309360" y="2286000"/>
            <a:ext cx="457200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“What can you access?”</a:t>
            </a:r>
            <a:endParaRPr lang="en-US" sz="2000" dirty="0"/>
          </a:p>
        </p:txBody>
      </p:sp>
      <p:sp>
        <p:nvSpPr>
          <p:cNvPr id="15" name="Text 13"/>
          <p:cNvSpPr/>
          <p:nvPr/>
        </p:nvSpPr>
        <p:spPr>
          <a:xfrm>
            <a:off x="6309360" y="2880360"/>
            <a:ext cx="4572000" cy="731520"/>
          </a:xfrm>
          <a:prstGeom prst="rect">
            <a:avLst/>
          </a:prstGeom>
          <a:noFill/>
          <a:ln/>
        </p:spPr>
        <p:txBody>
          <a:bodyPr wrap="square" rtlCol="0" anchor="ctr"/>
          <a:lstStyle/>
          <a:p>
            <a:pPr marL="0" indent="0">
              <a:buNone/>
            </a:pPr>
            <a:r>
              <a:rPr lang="en-US" sz="1250" dirty="0">
                <a:solidFill>
                  <a:srgbClr val="9FB0CE"/>
                </a:solidFill>
                <a:latin typeface="Calibri" pitchFamily="34" charset="0"/>
                <a:ea typeface="Calibri" pitchFamily="34" charset="-122"/>
                <a:cs typeface="Calibri" pitchFamily="34" charset="-120"/>
              </a:rPr>
              <a:t>RBAC and application permissions — defining allowed actions.</a:t>
            </a:r>
            <a:endParaRPr lang="en-US" sz="1250" dirty="0"/>
          </a:p>
        </p:txBody>
      </p:sp>
      <p:sp>
        <p:nvSpPr>
          <p:cNvPr id="16" name="Shape 14"/>
          <p:cNvSpPr/>
          <p:nvPr/>
        </p:nvSpPr>
        <p:spPr>
          <a:xfrm>
            <a:off x="548640" y="4343400"/>
            <a:ext cx="2331720" cy="868680"/>
          </a:xfrm>
          <a:prstGeom prst="roundRect">
            <a:avLst>
              <a:gd name="adj" fmla="val 8421"/>
            </a:avLst>
          </a:prstGeom>
          <a:solidFill>
            <a:srgbClr val="182444"/>
          </a:solidFill>
          <a:ln w="12700">
            <a:solidFill>
              <a:srgbClr val="26314F"/>
            </a:solidFill>
            <a:prstDash val="solid"/>
          </a:ln>
        </p:spPr>
        <p:txBody>
          <a:bodyPr/>
          <a:lstStyle/>
          <a:p>
            <a:endParaRPr lang="en-IN"/>
          </a:p>
        </p:txBody>
      </p:sp>
      <p:sp>
        <p:nvSpPr>
          <p:cNvPr id="17" name="Text 15"/>
          <p:cNvSpPr/>
          <p:nvPr/>
        </p:nvSpPr>
        <p:spPr>
          <a:xfrm>
            <a:off x="548640" y="4343400"/>
            <a:ext cx="2331720" cy="8686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Login</a:t>
            </a:r>
            <a:endParaRPr lang="en-US" sz="1250" dirty="0"/>
          </a:p>
        </p:txBody>
      </p:sp>
      <p:sp>
        <p:nvSpPr>
          <p:cNvPr id="18" name="Shape 16"/>
          <p:cNvSpPr/>
          <p:nvPr/>
        </p:nvSpPr>
        <p:spPr>
          <a:xfrm>
            <a:off x="2907792" y="4777740"/>
            <a:ext cx="201168" cy="0"/>
          </a:xfrm>
          <a:prstGeom prst="line">
            <a:avLst/>
          </a:prstGeom>
          <a:noFill/>
          <a:ln w="19050">
            <a:solidFill>
              <a:srgbClr val="00E0C6"/>
            </a:solidFill>
            <a:prstDash val="solid"/>
            <a:tailEnd type="triangle"/>
          </a:ln>
        </p:spPr>
        <p:txBody>
          <a:bodyPr/>
          <a:lstStyle/>
          <a:p>
            <a:endParaRPr lang="en-IN"/>
          </a:p>
        </p:txBody>
      </p:sp>
      <p:sp>
        <p:nvSpPr>
          <p:cNvPr id="19" name="Shape 17"/>
          <p:cNvSpPr/>
          <p:nvPr/>
        </p:nvSpPr>
        <p:spPr>
          <a:xfrm>
            <a:off x="3136392" y="4343400"/>
            <a:ext cx="2331720" cy="868680"/>
          </a:xfrm>
          <a:prstGeom prst="roundRect">
            <a:avLst>
              <a:gd name="adj" fmla="val 8421"/>
            </a:avLst>
          </a:prstGeom>
          <a:solidFill>
            <a:srgbClr val="182444"/>
          </a:solidFill>
          <a:ln w="12700">
            <a:solidFill>
              <a:srgbClr val="26314F"/>
            </a:solidFill>
            <a:prstDash val="solid"/>
          </a:ln>
        </p:spPr>
        <p:txBody>
          <a:bodyPr/>
          <a:lstStyle/>
          <a:p>
            <a:endParaRPr lang="en-IN"/>
          </a:p>
        </p:txBody>
      </p:sp>
      <p:sp>
        <p:nvSpPr>
          <p:cNvPr id="20" name="Text 18"/>
          <p:cNvSpPr/>
          <p:nvPr/>
        </p:nvSpPr>
        <p:spPr>
          <a:xfrm>
            <a:off x="3136392" y="4343400"/>
            <a:ext cx="2331720" cy="8686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Authenticate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(Who)</a:t>
            </a:r>
            <a:endParaRPr lang="en-US" sz="1250" dirty="0"/>
          </a:p>
        </p:txBody>
      </p:sp>
      <p:sp>
        <p:nvSpPr>
          <p:cNvPr id="21" name="Shape 19"/>
          <p:cNvSpPr/>
          <p:nvPr/>
        </p:nvSpPr>
        <p:spPr>
          <a:xfrm>
            <a:off x="5495544" y="4777740"/>
            <a:ext cx="201168" cy="0"/>
          </a:xfrm>
          <a:prstGeom prst="line">
            <a:avLst/>
          </a:prstGeom>
          <a:noFill/>
          <a:ln w="19050">
            <a:solidFill>
              <a:srgbClr val="00E0C6"/>
            </a:solidFill>
            <a:prstDash val="solid"/>
            <a:tailEnd type="triangle"/>
          </a:ln>
        </p:spPr>
        <p:txBody>
          <a:bodyPr/>
          <a:lstStyle/>
          <a:p>
            <a:endParaRPr lang="en-IN"/>
          </a:p>
        </p:txBody>
      </p:sp>
      <p:sp>
        <p:nvSpPr>
          <p:cNvPr id="22" name="Shape 20"/>
          <p:cNvSpPr/>
          <p:nvPr/>
        </p:nvSpPr>
        <p:spPr>
          <a:xfrm>
            <a:off x="5724144" y="4343400"/>
            <a:ext cx="2331720" cy="868680"/>
          </a:xfrm>
          <a:prstGeom prst="roundRect">
            <a:avLst>
              <a:gd name="adj" fmla="val 8421"/>
            </a:avLst>
          </a:prstGeom>
          <a:solidFill>
            <a:srgbClr val="182444"/>
          </a:solidFill>
          <a:ln w="12700">
            <a:solidFill>
              <a:srgbClr val="26314F"/>
            </a:solidFill>
            <a:prstDash val="solid"/>
          </a:ln>
        </p:spPr>
        <p:txBody>
          <a:bodyPr/>
          <a:lstStyle/>
          <a:p>
            <a:endParaRPr lang="en-IN"/>
          </a:p>
        </p:txBody>
      </p:sp>
      <p:sp>
        <p:nvSpPr>
          <p:cNvPr id="23" name="Text 21"/>
          <p:cNvSpPr/>
          <p:nvPr/>
        </p:nvSpPr>
        <p:spPr>
          <a:xfrm>
            <a:off x="5724144" y="4343400"/>
            <a:ext cx="2331720" cy="8686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Authorize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(What)</a:t>
            </a:r>
            <a:endParaRPr lang="en-US" sz="1250" dirty="0"/>
          </a:p>
        </p:txBody>
      </p:sp>
      <p:sp>
        <p:nvSpPr>
          <p:cNvPr id="24" name="Shape 22"/>
          <p:cNvSpPr/>
          <p:nvPr/>
        </p:nvSpPr>
        <p:spPr>
          <a:xfrm>
            <a:off x="8083296" y="4777740"/>
            <a:ext cx="201168" cy="0"/>
          </a:xfrm>
          <a:prstGeom prst="line">
            <a:avLst/>
          </a:prstGeom>
          <a:noFill/>
          <a:ln w="19050">
            <a:solidFill>
              <a:srgbClr val="00E0C6"/>
            </a:solidFill>
            <a:prstDash val="solid"/>
            <a:tailEnd type="triangle"/>
          </a:ln>
        </p:spPr>
        <p:txBody>
          <a:bodyPr/>
          <a:lstStyle/>
          <a:p>
            <a:endParaRPr lang="en-IN"/>
          </a:p>
        </p:txBody>
      </p:sp>
      <p:sp>
        <p:nvSpPr>
          <p:cNvPr id="25" name="Shape 23"/>
          <p:cNvSpPr/>
          <p:nvPr/>
        </p:nvSpPr>
        <p:spPr>
          <a:xfrm>
            <a:off x="8311896" y="4343400"/>
            <a:ext cx="2331720" cy="868680"/>
          </a:xfrm>
          <a:prstGeom prst="roundRect">
            <a:avLst>
              <a:gd name="adj" fmla="val 8421"/>
            </a:avLst>
          </a:prstGeom>
          <a:solidFill>
            <a:srgbClr val="0E3A34"/>
          </a:solidFill>
          <a:ln w="12700">
            <a:solidFill>
              <a:srgbClr val="4ADE80"/>
            </a:solidFill>
            <a:prstDash val="solid"/>
          </a:ln>
        </p:spPr>
        <p:txBody>
          <a:bodyPr/>
          <a:lstStyle/>
          <a:p>
            <a:endParaRPr lang="en-IN"/>
          </a:p>
        </p:txBody>
      </p:sp>
      <p:sp>
        <p:nvSpPr>
          <p:cNvPr id="26" name="Text 24"/>
          <p:cNvSpPr/>
          <p:nvPr/>
        </p:nvSpPr>
        <p:spPr>
          <a:xfrm>
            <a:off x="8311896" y="4343400"/>
            <a:ext cx="2331720" cy="868680"/>
          </a:xfrm>
          <a:prstGeom prst="rect">
            <a:avLst/>
          </a:prstGeom>
          <a:noFill/>
          <a:ln/>
        </p:spPr>
        <p:txBody>
          <a:bodyPr wrap="square" rtlCol="0" anchor="ctr"/>
          <a:lstStyle/>
          <a:p>
            <a:pPr marL="0" indent="0" algn="ctr">
              <a:buNone/>
            </a:pPr>
            <a:r>
              <a:rPr lang="en-US" sz="1250" b="1" dirty="0">
                <a:solidFill>
                  <a:srgbClr val="4ADE80"/>
                </a:solidFill>
                <a:latin typeface="Calibri" pitchFamily="34" charset="0"/>
                <a:ea typeface="Calibri" pitchFamily="34" charset="-122"/>
                <a:cs typeface="Calibri" pitchFamily="34" charset="-120"/>
              </a:rPr>
              <a:t>Access Granted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2047</Words>
  <Application>Microsoft Office PowerPoint</Application>
  <PresentationFormat>Widescreen</PresentationFormat>
  <Paragraphs>205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Yashwanth Nizampatnam</cp:lastModifiedBy>
  <cp:revision>2</cp:revision>
  <dcterms:created xsi:type="dcterms:W3CDTF">2026-09-22T11:29:14Z</dcterms:created>
  <dcterms:modified xsi:type="dcterms:W3CDTF">2026-09-24T13:49:56Z</dcterms:modified>
</cp:coreProperties>
</file>