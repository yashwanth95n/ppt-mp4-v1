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1138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88105" y="1162861"/>
            <a:ext cx="1188720" cy="548640"/>
          </a:xfrm>
          <a:prstGeom prst="line">
            <a:avLst/>
          </a:prstGeom>
          <a:noFill/>
          <a:ln w="12700">
            <a:solidFill>
              <a:srgbClr val="00A89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flipH="1">
            <a:off x="9454699" y="1153717"/>
            <a:ext cx="365760" cy="1097280"/>
          </a:xfrm>
          <a:prstGeom prst="line">
            <a:avLst/>
          </a:prstGeom>
          <a:noFill/>
          <a:ln w="12700">
            <a:solidFill>
              <a:srgbClr val="00A89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009179" y="1702357"/>
            <a:ext cx="457200" cy="1097280"/>
          </a:xfrm>
          <a:prstGeom prst="line">
            <a:avLst/>
          </a:prstGeom>
          <a:noFill/>
          <a:ln w="12700">
            <a:solidFill>
              <a:srgbClr val="00A89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flipV="1">
            <a:off x="11009179" y="1245157"/>
            <a:ext cx="731520" cy="457200"/>
          </a:xfrm>
          <a:prstGeom prst="line">
            <a:avLst/>
          </a:prstGeom>
          <a:noFill/>
          <a:ln w="12700">
            <a:solidFill>
              <a:srgbClr val="00A89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454699" y="2250997"/>
            <a:ext cx="731520" cy="1005840"/>
          </a:xfrm>
          <a:prstGeom prst="line">
            <a:avLst/>
          </a:prstGeom>
          <a:noFill/>
          <a:ln w="12700">
            <a:solidFill>
              <a:srgbClr val="00A89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 flipH="1">
            <a:off x="10186219" y="2799637"/>
            <a:ext cx="1280160" cy="457200"/>
          </a:xfrm>
          <a:prstGeom prst="line">
            <a:avLst/>
          </a:prstGeom>
          <a:noFill/>
          <a:ln w="12700">
            <a:solidFill>
              <a:srgbClr val="00A89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738163" y="1071421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926883" y="1620061"/>
            <a:ext cx="164592" cy="164592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409176" y="2201491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384083" y="2717341"/>
            <a:ext cx="164592" cy="164592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103923" y="3174541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1692521" y="1153717"/>
            <a:ext cx="164592" cy="164592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8229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50901" y="1311574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534727" y="1897822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Networking Fundamentals</a:t>
            </a:r>
            <a:endParaRPr lang="en-US" sz="4400" dirty="0"/>
          </a:p>
        </p:txBody>
      </p:sp>
      <p:sp>
        <p:nvSpPr>
          <p:cNvPr id="18" name="Shape 16"/>
          <p:cNvSpPr/>
          <p:nvPr/>
        </p:nvSpPr>
        <p:spPr>
          <a:xfrm>
            <a:off x="640080" y="3300984"/>
            <a:ext cx="1280160" cy="4572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50901" y="331927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CF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how devices talk to each other across a network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98293" y="4133088"/>
            <a:ext cx="4206240" cy="1051560"/>
          </a:xfrm>
          <a:prstGeom prst="roundRect">
            <a:avLst>
              <a:gd name="adj" fmla="val 8696"/>
            </a:avLst>
          </a:prstGeom>
          <a:solidFill>
            <a:srgbClr val="0F3B42"/>
          </a:solidFill>
          <a:ln w="9525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72613" y="438912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72613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04133" y="427024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F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by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604133" y="449884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Shamali Kene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604133" y="472744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F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Engineer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02809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Topics Covered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124712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DEDEA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19659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91640" y="185623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 Protocol Framework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691640" y="222199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that govern how data travels across a network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1124712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DEDEA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77240" y="310896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91640" y="299923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691640" y="336499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unique digital address assigned to every device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023360"/>
            <a:ext cx="1124712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DEDEA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77240" y="425196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4251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91640" y="414223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 Masks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691640" y="450799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Dividing an IP address into network and host portions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5166360"/>
            <a:ext cx="1124712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DEDEA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77240" y="53949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7240" y="5394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91640" y="528523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CIDR Notation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691640" y="565099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Flexible, efficient allocation of IP address blocks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 |  Networking Fundamentals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02809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TCP/IP Protocol Framework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94360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DEDEA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TCP/IP?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5394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</a:t>
            </a:r>
            <a:r>
              <a:rPr lang="en-US" sz="13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framework that defines how data moves from one device to another across networks.
</a:t>
            </a:r>
            <a:r>
              <a:rPr lang="en-US" sz="1350" i="1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Control Protocol / Internet Protocol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set of rules computers use to communicate over a network or the Internet.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77240" y="4892040"/>
            <a:ext cx="5394960" cy="18288"/>
          </a:xfrm>
          <a:prstGeom prst="rect">
            <a:avLst/>
          </a:prstGeom>
          <a:solidFill>
            <a:srgbClr val="DDED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50292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sending a parcel: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53949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 </a:t>
            </a:r>
            <a:r>
              <a:rPr lang="en-US" sz="12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Where should the parcel go?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57150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 </a:t>
            </a:r>
            <a:r>
              <a:rPr lang="en-US" sz="12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Make sure the parcel arrives correctly and in order.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766560" y="1783080"/>
            <a:ext cx="4937760" cy="4297680"/>
          </a:xfrm>
          <a:prstGeom prst="roundRect">
            <a:avLst>
              <a:gd name="adj" fmla="val 2128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412480" y="2377440"/>
            <a:ext cx="1645920" cy="1188720"/>
          </a:xfrm>
          <a:prstGeom prst="rect">
            <a:avLst/>
          </a:prstGeom>
          <a:solidFill>
            <a:srgbClr val="B9EDE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412480" y="2971800"/>
            <a:ext cx="164592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235440" y="2377440"/>
            <a:ext cx="0" cy="118872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412480" y="3657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CF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32320" y="397764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addresses it. TCP delivers it —</a:t>
            </a:r>
            <a:endParaRPr lang="en-US" sz="12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complete, correct, in order.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223760" y="457200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0F50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06640" y="4709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F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 =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06640" y="49834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Control Protocol /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Protocol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 |  Networking Fundamentals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02809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TCP/IP Has 4 Layers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8867907"/>
              </p:ext>
            </p:extLst>
          </p:nvPr>
        </p:nvGraphicFramePr>
        <p:xfrm>
          <a:off x="457200" y="1691640"/>
          <a:ext cx="6675120" cy="237744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Services applications use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HTTP, DNS, FTP, SSH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 communication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TCP, UDP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Addressing &amp; routing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IP, ICMP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Access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Sends data over the network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Ethernet, Wi-Fi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580376" y="94438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way to remember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580376" y="1355868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580376" y="1355868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445752" y="2151396"/>
            <a:ext cx="201168" cy="164592"/>
          </a:xfrm>
          <a:prstGeom prst="downArrow">
            <a:avLst/>
          </a:prstGeom>
          <a:solidFill>
            <a:srgbClr val="5A7B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580376" y="2334276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580376" y="2334276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9445752" y="3129804"/>
            <a:ext cx="201168" cy="164592"/>
          </a:xfrm>
          <a:prstGeom prst="downArrow">
            <a:avLst/>
          </a:prstGeom>
          <a:solidFill>
            <a:srgbClr val="5A7B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580376" y="3312684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580376" y="3312684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9445752" y="4108212"/>
            <a:ext cx="201168" cy="164592"/>
          </a:xfrm>
          <a:prstGeom prst="downArrow">
            <a:avLst/>
          </a:prstGeom>
          <a:solidFill>
            <a:srgbClr val="5A7B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7580376" y="4291092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0F50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580376" y="4291092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Access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57200" y="434340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down to send, and back up to receive.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 |  Networking Fundamentals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Example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a website walks through every layer of TCP/IP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108960" y="1691640"/>
            <a:ext cx="5943600" cy="594360"/>
          </a:xfrm>
          <a:prstGeom prst="roundRect">
            <a:avLst>
              <a:gd name="adj" fmla="val 15385"/>
            </a:avLst>
          </a:prstGeom>
          <a:solidFill>
            <a:srgbClr val="0F3B42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337560" y="1901952"/>
            <a:ext cx="164592" cy="164592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584448" y="1901952"/>
            <a:ext cx="164592" cy="164592"/>
          </a:xfrm>
          <a:prstGeom prst="ellipse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31336" y="1901952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06240" y="169164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https://google.com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0F3B42"/>
          </a:solidFill>
          <a:ln w="1587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68680" y="3017520"/>
            <a:ext cx="196596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30175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7490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416052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CF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the web page content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63824" y="4114800"/>
            <a:ext cx="182880" cy="320040"/>
          </a:xfrm>
          <a:prstGeom prst="rightArrow">
            <a:avLst/>
          </a:prstGeom>
          <a:solidFill>
            <a:srgbClr val="5A7B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355848" y="269748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0F3B42"/>
          </a:solidFill>
          <a:ln w="15875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75888" y="3017520"/>
            <a:ext cx="1965960" cy="502920"/>
          </a:xfrm>
          <a:prstGeom prst="roundRect">
            <a:avLst>
              <a:gd name="adj" fmla="val 14545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75888" y="30175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38728" y="37490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584448" y="416052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CF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the page data arrives complete &amp; in order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71032" y="4114800"/>
            <a:ext cx="182880" cy="320040"/>
          </a:xfrm>
          <a:prstGeom prst="rightArrow">
            <a:avLst/>
          </a:prstGeom>
          <a:solidFill>
            <a:srgbClr val="5A7B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163056" y="269748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0F3B42"/>
          </a:solidFill>
          <a:ln w="15875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83096" y="3017520"/>
            <a:ext cx="1965960" cy="502920"/>
          </a:xfrm>
          <a:prstGeom prst="roundRect">
            <a:avLst>
              <a:gd name="adj" fmla="val 14545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83096" y="30175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45936" y="37490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391656" y="416052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CF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and routes the data to google.com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778240" y="4114800"/>
            <a:ext cx="182880" cy="320040"/>
          </a:xfrm>
          <a:prstGeom prst="rightArrow">
            <a:avLst/>
          </a:prstGeom>
          <a:solidFill>
            <a:srgbClr val="5A7B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970264" y="269748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0F3B42"/>
          </a:solidFill>
          <a:ln w="15875">
            <a:solidFill>
              <a:srgbClr val="0F50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290304" y="3017520"/>
            <a:ext cx="1965960" cy="502920"/>
          </a:xfrm>
          <a:prstGeom prst="roundRect">
            <a:avLst>
              <a:gd name="adj" fmla="val 14545"/>
            </a:avLst>
          </a:prstGeom>
          <a:solidFill>
            <a:srgbClr val="0F50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290304" y="30175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Ethernet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153144" y="37490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Access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198864" y="416052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CF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carries the data over the wire / Wi-Fi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 |  Networking Fundamentals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02809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 Addresses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640080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DEDEA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IP Address?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5760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IP address (Internet Protocol address) is a unique label assigned to every device connected to a computer network.
It acts like a digital home address, allowing devices to find and talk to each other.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223760" y="1828800"/>
            <a:ext cx="4480560" cy="4206240"/>
          </a:xfrm>
          <a:prstGeom prst="roundRect">
            <a:avLst>
              <a:gd name="adj" fmla="val 2174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41080" y="2834640"/>
            <a:ext cx="1645920" cy="1188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503920" y="2331720"/>
            <a:ext cx="1920240" cy="640080"/>
          </a:xfrm>
          <a:prstGeom prst="triangl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235440" y="3246120"/>
            <a:ext cx="457200" cy="77724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680960" y="42519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192.168.1.10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680960" y="47091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F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unique digital address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63840" y="5166360"/>
            <a:ext cx="3200400" cy="1828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26680" y="53492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device on a network — phones, laptops, servers — has one.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 |  Networking Fundamentals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02809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IP Addresses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697480" cy="41148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DEDEA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2697480" cy="777240"/>
          </a:xfrm>
          <a:prstGeom prst="roundRect">
            <a:avLst>
              <a:gd name="adj" fmla="val 11765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2697480" cy="2743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IP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58368" y="2697480"/>
            <a:ext cx="2295144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by your internet provider to your entire home or office network. Visible to the whole internet and allows you to access websites.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55848" y="1737360"/>
            <a:ext cx="2697480" cy="41148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DEDEA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55848" y="1737360"/>
            <a:ext cx="2697480" cy="777240"/>
          </a:xfrm>
          <a:prstGeom prst="roundRect">
            <a:avLst>
              <a:gd name="adj" fmla="val 11765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55848" y="2240280"/>
            <a:ext cx="2697480" cy="27432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55848" y="173736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IP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557016" y="2697480"/>
            <a:ext cx="2295144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by your router to individual devices (phone, laptop) inside your local network. Keeps devices safe by hiding them from the public internet.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54496" y="1737360"/>
            <a:ext cx="2697480" cy="41148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DEDEA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54496" y="1737360"/>
            <a:ext cx="2697480" cy="777240"/>
          </a:xfrm>
          <a:prstGeom prst="roundRect">
            <a:avLst>
              <a:gd name="adj" fmla="val 11765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54496" y="2240280"/>
            <a:ext cx="2697480" cy="2743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54496" y="173736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IP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55664" y="2697480"/>
            <a:ext cx="2295144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addresses that change automatically over time. Your internet provider rotates them to save resources — most household devices use these.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53144" y="1737360"/>
            <a:ext cx="2697480" cy="41148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DEDEA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153144" y="1737360"/>
            <a:ext cx="2697480" cy="777240"/>
          </a:xfrm>
          <a:prstGeom prst="roundRect">
            <a:avLst>
              <a:gd name="adj" fmla="val 11765"/>
            </a:avLst>
          </a:prstGeom>
          <a:solidFill>
            <a:srgbClr val="0F50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153144" y="2240280"/>
            <a:ext cx="2697480" cy="274320"/>
          </a:xfrm>
          <a:prstGeom prst="rect">
            <a:avLst/>
          </a:prstGeom>
          <a:solidFill>
            <a:srgbClr val="0F50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53144" y="173736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IP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354312" y="2697480"/>
            <a:ext cx="2295144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addresses that never change. Manually set for servers, business networks, or websites needing a constant, reliable connection.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 |  Networking Fundamentals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02809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IPv4 vs IPv6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DEDEA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5394960" cy="3200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5394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IPv4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
</a:t>
            </a:r>
            <a:r>
              <a:rPr lang="en-US" sz="105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address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154680" y="28803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Billion
</a:t>
            </a:r>
            <a:r>
              <a:rPr lang="en-US" sz="105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addresses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" y="3840480"/>
            <a:ext cx="4754880" cy="18288"/>
          </a:xfrm>
          <a:prstGeom prst="rect">
            <a:avLst/>
          </a:prstGeom>
          <a:solidFill>
            <a:srgbClr val="DDED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39776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example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4270248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EAF6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427024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49834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5276088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number of addresses (only 4.3 billion); not secure.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09360" y="178308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DEDEA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309360" y="178308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309360" y="2331720"/>
            <a:ext cx="5394960" cy="32004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09360" y="1783080"/>
            <a:ext cx="5394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IPv6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629400" y="28803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
</a:t>
            </a:r>
            <a:r>
              <a:rPr lang="en-US" sz="105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address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006840" y="28803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 Undecillion
</a:t>
            </a:r>
            <a:r>
              <a:rPr lang="en-US" sz="105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addresses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629400" y="3840480"/>
            <a:ext cx="4754880" cy="18288"/>
          </a:xfrm>
          <a:prstGeom prst="rect">
            <a:avLst/>
          </a:prstGeom>
          <a:solidFill>
            <a:srgbClr val="DDED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629400" y="39776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example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29400" y="4270248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EAF6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629400" y="427024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2001:db8::1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629400" y="49834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29400" y="5276088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Long, hard-to-remember address format.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 |  Networking Fundamentals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02809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Subnet Masks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DEA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subnet mask </a:t>
            </a:r>
            <a:r>
              <a:rPr lang="en-US" sz="15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32-bit number used with an IP address to divide it into two parts: the </a:t>
            </a:r>
            <a:r>
              <a:rPr lang="en-US" sz="15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ID</a:t>
            </a:r>
            <a:r>
              <a:rPr lang="en-US" sz="15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the </a:t>
            </a:r>
            <a:r>
              <a:rPr lang="en-US" sz="15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ID</a:t>
            </a:r>
            <a:r>
              <a:rPr lang="en-US" sz="15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77240" y="3429000"/>
            <a:ext cx="288036" cy="502920"/>
          </a:xfrm>
          <a:prstGeom prst="roundRect">
            <a:avLst>
              <a:gd name="adj" fmla="val 15873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3429000"/>
            <a:ext cx="2880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101852" y="3429000"/>
            <a:ext cx="288036" cy="502920"/>
          </a:xfrm>
          <a:prstGeom prst="roundRect">
            <a:avLst>
              <a:gd name="adj" fmla="val 15873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01852" y="3429000"/>
            <a:ext cx="2880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426464" y="3429000"/>
            <a:ext cx="288036" cy="502920"/>
          </a:xfrm>
          <a:prstGeom prst="roundRect">
            <a:avLst>
              <a:gd name="adj" fmla="val 15873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426464" y="3429000"/>
            <a:ext cx="2880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751076" y="3429000"/>
            <a:ext cx="288036" cy="502920"/>
          </a:xfrm>
          <a:prstGeom prst="roundRect">
            <a:avLst>
              <a:gd name="adj" fmla="val 15873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751076" y="3429000"/>
            <a:ext cx="2880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75688" y="3429000"/>
            <a:ext cx="288036" cy="502920"/>
          </a:xfrm>
          <a:prstGeom prst="roundRect">
            <a:avLst>
              <a:gd name="adj" fmla="val 15873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075688" y="3429000"/>
            <a:ext cx="2880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400300" y="3429000"/>
            <a:ext cx="288036" cy="502920"/>
          </a:xfrm>
          <a:prstGeom prst="roundRect">
            <a:avLst>
              <a:gd name="adj" fmla="val 15873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400300" y="3429000"/>
            <a:ext cx="2880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24912" y="3429000"/>
            <a:ext cx="288036" cy="502920"/>
          </a:xfrm>
          <a:prstGeom prst="roundRect">
            <a:avLst>
              <a:gd name="adj" fmla="val 15873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24912" y="3429000"/>
            <a:ext cx="2880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049524" y="3429000"/>
            <a:ext cx="288036" cy="502920"/>
          </a:xfrm>
          <a:prstGeom prst="roundRect">
            <a:avLst>
              <a:gd name="adj" fmla="val 15873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049524" y="3429000"/>
            <a:ext cx="2880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74136" y="3429000"/>
            <a:ext cx="288036" cy="502920"/>
          </a:xfrm>
          <a:prstGeom prst="roundRect">
            <a:avLst>
              <a:gd name="adj" fmla="val 15873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374136" y="3429000"/>
            <a:ext cx="2880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98748" y="3429000"/>
            <a:ext cx="288036" cy="502920"/>
          </a:xfrm>
          <a:prstGeom prst="roundRect">
            <a:avLst>
              <a:gd name="adj" fmla="val 15873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98748" y="3429000"/>
            <a:ext cx="2880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023360" y="3429000"/>
            <a:ext cx="288036" cy="502920"/>
          </a:xfrm>
          <a:prstGeom prst="roundRect">
            <a:avLst>
              <a:gd name="adj" fmla="val 15873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023360" y="3429000"/>
            <a:ext cx="2880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347972" y="3429000"/>
            <a:ext cx="288036" cy="502920"/>
          </a:xfrm>
          <a:prstGeom prst="roundRect">
            <a:avLst>
              <a:gd name="adj" fmla="val 15873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347972" y="3429000"/>
            <a:ext cx="2880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72584" y="3429000"/>
            <a:ext cx="288036" cy="502920"/>
          </a:xfrm>
          <a:prstGeom prst="roundRect">
            <a:avLst>
              <a:gd name="adj" fmla="val 15873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672584" y="3429000"/>
            <a:ext cx="2880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997196" y="3429000"/>
            <a:ext cx="288036" cy="502920"/>
          </a:xfrm>
          <a:prstGeom prst="roundRect">
            <a:avLst>
              <a:gd name="adj" fmla="val 15873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997196" y="3429000"/>
            <a:ext cx="2880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321808" y="3429000"/>
            <a:ext cx="288036" cy="502920"/>
          </a:xfrm>
          <a:prstGeom prst="roundRect">
            <a:avLst>
              <a:gd name="adj" fmla="val 15873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321808" y="3429000"/>
            <a:ext cx="2880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646420" y="3429000"/>
            <a:ext cx="288036" cy="502920"/>
          </a:xfrm>
          <a:prstGeom prst="roundRect">
            <a:avLst>
              <a:gd name="adj" fmla="val 15873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646420" y="3429000"/>
            <a:ext cx="2880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971032" y="3429000"/>
            <a:ext cx="288036" cy="502920"/>
          </a:xfrm>
          <a:prstGeom prst="roundRect">
            <a:avLst>
              <a:gd name="adj" fmla="val 15873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971032" y="3429000"/>
            <a:ext cx="2880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95644" y="3429000"/>
            <a:ext cx="288036" cy="502920"/>
          </a:xfrm>
          <a:prstGeom prst="roundRect">
            <a:avLst>
              <a:gd name="adj" fmla="val 15873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295644" y="3429000"/>
            <a:ext cx="2880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620256" y="3429000"/>
            <a:ext cx="288036" cy="502920"/>
          </a:xfrm>
          <a:prstGeom prst="roundRect">
            <a:avLst>
              <a:gd name="adj" fmla="val 15873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620256" y="3429000"/>
            <a:ext cx="2880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944868" y="3429000"/>
            <a:ext cx="288036" cy="502920"/>
          </a:xfrm>
          <a:prstGeom prst="roundRect">
            <a:avLst>
              <a:gd name="adj" fmla="val 15873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944868" y="3429000"/>
            <a:ext cx="2880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269480" y="3429000"/>
            <a:ext cx="288036" cy="502920"/>
          </a:xfrm>
          <a:prstGeom prst="roundRect">
            <a:avLst>
              <a:gd name="adj" fmla="val 15873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269480" y="3429000"/>
            <a:ext cx="2880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594092" y="3429000"/>
            <a:ext cx="288036" cy="502920"/>
          </a:xfrm>
          <a:prstGeom prst="roundRect">
            <a:avLst>
              <a:gd name="adj" fmla="val 15873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594092" y="3429000"/>
            <a:ext cx="2880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918704" y="3429000"/>
            <a:ext cx="288036" cy="502920"/>
          </a:xfrm>
          <a:prstGeom prst="roundRect">
            <a:avLst>
              <a:gd name="adj" fmla="val 15873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918704" y="3429000"/>
            <a:ext cx="2880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243316" y="3429000"/>
            <a:ext cx="288036" cy="502920"/>
          </a:xfrm>
          <a:prstGeom prst="roundRect">
            <a:avLst>
              <a:gd name="adj" fmla="val 15873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8243316" y="3429000"/>
            <a:ext cx="2880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567928" y="3429000"/>
            <a:ext cx="288036" cy="502920"/>
          </a:xfrm>
          <a:prstGeom prst="roundRect">
            <a:avLst>
              <a:gd name="adj" fmla="val 15873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8567928" y="3429000"/>
            <a:ext cx="2880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8892540" y="3429000"/>
            <a:ext cx="288036" cy="502920"/>
          </a:xfrm>
          <a:prstGeom prst="roundRect">
            <a:avLst>
              <a:gd name="adj" fmla="val 15873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8892540" y="3429000"/>
            <a:ext cx="2880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9217152" y="3429000"/>
            <a:ext cx="288036" cy="502920"/>
          </a:xfrm>
          <a:prstGeom prst="roundRect">
            <a:avLst>
              <a:gd name="adj" fmla="val 15873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9217152" y="3429000"/>
            <a:ext cx="2880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9541764" y="3429000"/>
            <a:ext cx="288036" cy="502920"/>
          </a:xfrm>
          <a:prstGeom prst="roundRect">
            <a:avLst>
              <a:gd name="adj" fmla="val 15873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9541764" y="3429000"/>
            <a:ext cx="2880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9866376" y="3429000"/>
            <a:ext cx="288036" cy="502920"/>
          </a:xfrm>
          <a:prstGeom prst="roundRect">
            <a:avLst>
              <a:gd name="adj" fmla="val 15873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9866376" y="3429000"/>
            <a:ext cx="2880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10190988" y="3429000"/>
            <a:ext cx="288036" cy="502920"/>
          </a:xfrm>
          <a:prstGeom prst="roundRect">
            <a:avLst>
              <a:gd name="adj" fmla="val 15873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10190988" y="3429000"/>
            <a:ext cx="2880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10515600" y="3429000"/>
            <a:ext cx="288036" cy="502920"/>
          </a:xfrm>
          <a:prstGeom prst="roundRect">
            <a:avLst>
              <a:gd name="adj" fmla="val 15873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10515600" y="3429000"/>
            <a:ext cx="2880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10840212" y="3429000"/>
            <a:ext cx="288036" cy="502920"/>
          </a:xfrm>
          <a:prstGeom prst="roundRect">
            <a:avLst>
              <a:gd name="adj" fmla="val 15873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10840212" y="3429000"/>
            <a:ext cx="2880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777240" y="4023360"/>
            <a:ext cx="77906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portion (24 bits)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8567928" y="4023360"/>
            <a:ext cx="25968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(8 bits)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777240" y="44348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1's </a:t>
            </a:r>
            <a:r>
              <a:rPr lang="en-US" sz="13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represent the network portion of the IP address.
</a:t>
            </a: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0's </a:t>
            </a:r>
            <a:r>
              <a:rPr lang="en-US" sz="13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represent the host portion.</a:t>
            </a:r>
            <a:endParaRPr lang="en-US" sz="1350" dirty="0"/>
          </a:p>
        </p:txBody>
      </p:sp>
      <p:sp>
        <p:nvSpPr>
          <p:cNvPr id="74" name="Shape 72"/>
          <p:cNvSpPr/>
          <p:nvPr/>
        </p:nvSpPr>
        <p:spPr>
          <a:xfrm>
            <a:off x="457200" y="5257800"/>
            <a:ext cx="11247120" cy="1051560"/>
          </a:xfrm>
          <a:prstGeom prst="roundRect">
            <a:avLst>
              <a:gd name="adj" fmla="val 8696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777240" y="534924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subnet mask helps a device determine whether another device is on the same local network or a different network — deciding whether communication is direct or must go through a router.</a:t>
            </a:r>
            <a:endParaRPr lang="en-US" sz="1300" dirty="0"/>
          </a:p>
        </p:txBody>
      </p:sp>
      <p:sp>
        <p:nvSpPr>
          <p:cNvPr id="76" name="Text 7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 |  Networking Fundamentals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02809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Classless Inter-Domain Routing (CIDR)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12471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DEDEA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62763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CIDR </a:t>
            </a:r>
            <a:r>
              <a:rPr lang="en-US" sz="13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method of IP address allocation and routing that allows more efficient use of IP addresses — allocating based on a network </a:t>
            </a:r>
            <a:r>
              <a:rPr lang="en-US" sz="13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</a:t>
            </a:r>
            <a:r>
              <a:rPr lang="en-US" sz="13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rather than a fixed class (A, B, or C).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CIDR? — Classful addressing wastes IP addresses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54680"/>
          <a:ext cx="6949440" cy="162306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IPs Available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Wastage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2²⁴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2²⁴ − 2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large for small orgs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2¹⁶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2¹⁶ − 2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Wastes 49,150 hosts for 214 needed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2⁸ − 2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networks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635240" y="3154680"/>
            <a:ext cx="4069080" cy="1554480"/>
          </a:xfrm>
          <a:prstGeom prst="roundRect">
            <a:avLst>
              <a:gd name="adj" fmla="val 5882"/>
            </a:avLst>
          </a:prstGeom>
          <a:solidFill>
            <a:srgbClr val="0F50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863840" y="3291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8" name="Text 8"/>
          <p:cNvSpPr/>
          <p:nvPr/>
        </p:nvSpPr>
        <p:spPr>
          <a:xfrm>
            <a:off x="7863840" y="356616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often need a host count that doesn't match class sizes — leading to wastage.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7200" y="489204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77240" y="5029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77240" y="530352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CIDR allows flexible block allocation matching the exact number of addresses an organization requires — eliminating the fixed-class wastage.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 |  Networking Fundamentals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80160" y="5394960"/>
            <a:ext cx="1188720" cy="365760"/>
          </a:xfrm>
          <a:prstGeom prst="line">
            <a:avLst/>
          </a:prstGeom>
          <a:noFill/>
          <a:ln w="12700">
            <a:solidFill>
              <a:srgbClr val="00A89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flipH="1">
            <a:off x="914400" y="5394960"/>
            <a:ext cx="365760" cy="640080"/>
          </a:xfrm>
          <a:prstGeom prst="line">
            <a:avLst/>
          </a:prstGeom>
          <a:noFill/>
          <a:ln w="12700">
            <a:solidFill>
              <a:srgbClr val="00A89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80160" y="5394960"/>
            <a:ext cx="548640" cy="914400"/>
          </a:xfrm>
          <a:prstGeom prst="line">
            <a:avLst/>
          </a:prstGeom>
          <a:noFill/>
          <a:ln w="12700">
            <a:solidFill>
              <a:srgbClr val="00A89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flipV="1">
            <a:off x="2468880" y="5212080"/>
            <a:ext cx="640080" cy="548640"/>
          </a:xfrm>
          <a:prstGeom prst="line">
            <a:avLst/>
          </a:prstGeom>
          <a:noFill/>
          <a:ln w="12700">
            <a:solidFill>
              <a:srgbClr val="00A89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 flipH="1">
            <a:off x="1828800" y="5760720"/>
            <a:ext cx="640080" cy="548640"/>
          </a:xfrm>
          <a:prstGeom prst="line">
            <a:avLst/>
          </a:prstGeom>
          <a:noFill/>
          <a:ln w="12700">
            <a:solidFill>
              <a:srgbClr val="00A89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6035040"/>
            <a:ext cx="914400" cy="274320"/>
          </a:xfrm>
          <a:prstGeom prst="line">
            <a:avLst/>
          </a:prstGeom>
          <a:noFill/>
          <a:ln w="12700">
            <a:solidFill>
              <a:srgbClr val="00A89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607040" y="914400"/>
            <a:ext cx="731520" cy="548640"/>
          </a:xfrm>
          <a:prstGeom prst="line">
            <a:avLst/>
          </a:prstGeom>
          <a:noFill/>
          <a:ln w="12700">
            <a:solidFill>
              <a:srgbClr val="00A89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 flipH="1">
            <a:off x="10058400" y="914400"/>
            <a:ext cx="548640" cy="640080"/>
          </a:xfrm>
          <a:prstGeom prst="line">
            <a:avLst/>
          </a:prstGeom>
          <a:noFill/>
          <a:ln w="12700">
            <a:solidFill>
              <a:srgbClr val="00A89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 flipH="1">
            <a:off x="10058400" y="1463040"/>
            <a:ext cx="1280160" cy="91440"/>
          </a:xfrm>
          <a:prstGeom prst="line">
            <a:avLst/>
          </a:prstGeom>
          <a:noFill/>
          <a:ln w="12700">
            <a:solidFill>
              <a:srgbClr val="00A89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207008" y="5321808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395728" y="5687568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41248" y="5961888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035808" y="5138928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755648" y="6236208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533888" y="841248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265408" y="1389888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985248" y="1481328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54396" y="2606040"/>
            <a:ext cx="1280160" cy="4572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0" y="2788920"/>
            <a:ext cx="12188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0" y="37947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F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Networking Fundamentals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0" y="42519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Shamali Kene  |  Project Engineer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892</Words>
  <Application>Microsoft Office PowerPoint</Application>
  <PresentationFormat>Widescreen</PresentationFormat>
  <Paragraphs>202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Yashwanth Nizampatnam</cp:lastModifiedBy>
  <cp:revision>8</cp:revision>
  <dcterms:created xsi:type="dcterms:W3CDTF">2026-09-09T13:43:38Z</dcterms:created>
  <dcterms:modified xsi:type="dcterms:W3CDTF">2026-09-09T13:52:33Z</dcterms:modified>
</cp:coreProperties>
</file>